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79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A51DEB-BC8F-4DE4-B311-1B1E56475C59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0DA9F0-E4E3-4176-8284-72406948C6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69012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0DA9F0-E4E3-4176-8284-72406948C6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2829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00D4FF"/>
                </a:solidFill>
              </a:defRPr>
            </a:pPr>
            <a:r>
              <a:t>AI Coding 探索 Showcase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CC00"/>
                </a:solidFill>
              </a:defRPr>
            </a:pPr>
            <a:r>
              <a:t>基于 Claude Code 的 Agent 开发实践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2328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 dirty="0" err="1"/>
              <a:t>研发</a:t>
            </a:r>
            <a:r>
              <a:rPr lang="en-US" dirty="0"/>
              <a:t> &amp; </a:t>
            </a:r>
            <a:r>
              <a:rPr lang="en-US"/>
              <a:t>AI Coding </a:t>
            </a:r>
            <a:r>
              <a:t>痛点问题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1277295" cy="1463040"/>
          </a:xfrm>
          <a:prstGeom prst="roundRect">
            <a:avLst/>
          </a:prstGeom>
          <a:solidFill>
            <a:srgbClr val="501E1E"/>
          </a:solidFill>
          <a:ln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B30"/>
                </a:solidFill>
              </a:defRPr>
            </a:pPr>
            <a:r>
              <a:t>痛点 1: 上下文理解成本高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每次对话需要重新解释项目结构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AI </a:t>
            </a:r>
            <a:r>
              <a:rPr dirty="0" err="1"/>
              <a:t>缺乏项目知识积累机制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重复性沟通消耗大量时间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3017520"/>
            <a:ext cx="11277295" cy="1463040"/>
          </a:xfrm>
          <a:prstGeom prst="roundRect">
            <a:avLst/>
          </a:prstGeom>
          <a:solidFill>
            <a:srgbClr val="501E1E"/>
          </a:solidFill>
          <a:ln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1089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B30"/>
                </a:solidFill>
              </a:defRPr>
            </a:pPr>
            <a:r>
              <a:t>痛点 2: 开发流程碎片化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构建</a:t>
            </a:r>
            <a:r>
              <a:rPr dirty="0"/>
              <a:t>/</a:t>
            </a:r>
            <a:r>
              <a:rPr dirty="0" err="1"/>
              <a:t>测试</a:t>
            </a:r>
            <a:r>
              <a:rPr dirty="0"/>
              <a:t>/</a:t>
            </a:r>
            <a:r>
              <a:rPr dirty="0" err="1"/>
              <a:t>部署</a:t>
            </a:r>
            <a:r>
              <a:rPr dirty="0"/>
              <a:t> </a:t>
            </a:r>
            <a:r>
              <a:rPr dirty="0" err="1"/>
              <a:t>需要切换多个环境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错误修复缺乏系统性方法</a:t>
            </a:r>
            <a:endParaRPr dirty="0"/>
          </a:p>
          <a:p>
            <a:pPr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跨平台开发（Windows编辑</a:t>
            </a:r>
            <a:r>
              <a:rPr dirty="0"/>
              <a:t> + </a:t>
            </a:r>
            <a:r>
              <a:rPr dirty="0" err="1"/>
              <a:t>Linux运行）复杂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457200" y="4754879"/>
            <a:ext cx="11277295" cy="1463040"/>
          </a:xfrm>
          <a:prstGeom prst="roundRect">
            <a:avLst/>
          </a:prstGeom>
          <a:solidFill>
            <a:srgbClr val="501E1E"/>
          </a:solidFill>
          <a:ln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84631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B30"/>
                </a:solidFill>
              </a:defRPr>
            </a:pPr>
            <a:r>
              <a:t>痛点 3: Token 成本指数级增长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12079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• 连续对话导致历史上下文堆积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无效信息被重复加载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• 长期对话成本难以控制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8390" y="216991"/>
            <a:ext cx="10040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rPr lang="en-US" altLang="zh-CN" dirty="0"/>
              <a:t>Agent = Model + Tools + Orchestration</a:t>
            </a:r>
            <a:r>
              <a:rPr lang="zh-CN" altLang="en-US" dirty="0"/>
              <a:t>理念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645920"/>
            <a:ext cx="3962095" cy="914400"/>
          </a:xfrm>
          <a:prstGeom prst="roundRect">
            <a:avLst/>
          </a:prstGeom>
          <a:solidFill>
            <a:srgbClr val="32325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CC00"/>
                </a:solidFill>
              </a:defRPr>
            </a:pPr>
            <a:r>
              <a:t>Orchestration (编排层)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规划、推理、决策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0" y="26060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D4FF"/>
                </a:solidFill>
              </a:defRPr>
            </a:pPr>
            <a:r>
              <a:t>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017520"/>
            <a:ext cx="3200400" cy="2011680"/>
          </a:xfrm>
          <a:prstGeom prst="roundRect">
            <a:avLst/>
          </a:prstGeom>
          <a:solidFill>
            <a:srgbClr val="2828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4FF"/>
                </a:solidFill>
              </a:defRPr>
            </a:pPr>
            <a:r>
              <a:t>Model (大模型)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推理能力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语言理解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决策制定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3017520"/>
            <a:ext cx="3200400" cy="2011680"/>
          </a:xfrm>
          <a:prstGeom prst="roundRect">
            <a:avLst/>
          </a:prstGeom>
          <a:solidFill>
            <a:srgbClr val="2828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4FF"/>
                </a:solidFill>
              </a:defRPr>
            </a:pPr>
            <a:r>
              <a:t>Tools (工具集)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文件操作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代码执行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网络请求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017520"/>
            <a:ext cx="3200400" cy="2011680"/>
          </a:xfrm>
          <a:prstGeom prst="roundRect">
            <a:avLst/>
          </a:prstGeom>
          <a:solidFill>
            <a:srgbClr val="2828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D4FF"/>
                </a:solidFill>
              </a:defRPr>
            </a:pPr>
            <a:r>
              <a:t>Knowledge (知识库)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项目记忆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最佳实践</a:t>
            </a:r>
          </a:p>
          <a:p>
            <a:pPr algn="l">
              <a:defRPr sz="1400">
                <a:solidFill>
                  <a:srgbClr val="FFFFFF"/>
                </a:solidFill>
              </a:defRPr>
            </a:pPr>
            <a:r>
              <a:t>• 错误修复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20"/>
            <a:ext cx="11277295" cy="914400"/>
          </a:xfrm>
          <a:prstGeom prst="roundRect">
            <a:avLst/>
          </a:prstGeom>
          <a:solidFill>
            <a:srgbClr val="1E3C50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>
                <a:solidFill>
                  <a:srgbClr val="FFFFFF"/>
                </a:solidFill>
              </a:defRPr>
            </a:pPr>
            <a:r>
              <a:t>Agent 工作循环:  感知 → 推理 → 行动 → 观察 → 循环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项目解决方案 - Skills 体系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2560320"/>
          </a:xfrm>
          <a:prstGeom prst="roundRect">
            <a:avLst/>
          </a:prstGeom>
          <a:solidFill>
            <a:srgbClr val="1E32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CLAUDE.md (项目规范)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28016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80560" y="128016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C00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28016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结构说明、开发指南、模块介绍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Skills/ (技能定义)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01168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01168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C00"/>
                </a:solidFill>
              </a:defRPr>
            </a:pPr>
            <a:r>
              <a:t>Tools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0116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dev, fix-*, code-*, openresty-lua-plugins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43200"/>
            <a:ext cx="3200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Memory/ (知识积累)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743200"/>
            <a:ext cx="457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743200"/>
            <a:ext cx="2286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CC00"/>
                </a:solidFill>
              </a:defRPr>
            </a:pPr>
            <a: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274320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已解决问题、架构决策、最佳实践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CC00"/>
                </a:solidFill>
              </a:defRPr>
            </a:pPr>
            <a:r>
              <a:t>Skills 分类: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297680"/>
            <a:ext cx="11277295" cy="45720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8640" y="438912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核心开发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438912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dev, openresty-lua-plugins, web-admin-frontend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38912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开发入口、插件生成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11277295" cy="45720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错误修复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892040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fix-compile, fix-test, fix-runtime, fix-loop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4892040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自动分析修复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8640" y="539495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代码质量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68880" y="539495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code-review, code-reactor, feedback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5394959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质量保障、知识沉淀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806440"/>
            <a:ext cx="11277295" cy="45720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5897879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D4FF"/>
                </a:solidFill>
              </a:defRPr>
            </a:pPr>
            <a:r>
              <a:t>DevOps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68880" y="5897879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jenkins-pipeline, monitor-observability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5897879"/>
            <a:ext cx="3931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8888"/>
                </a:solidFill>
              </a:defRPr>
            </a:pPr>
            <a:r>
              <a:t>CI/CD、监控运维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端到端开发流程实例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8888"/>
                </a:solidFill>
              </a:defRPr>
            </a:pPr>
            <a:r>
              <a:t>场景：开发一个 OpenResty Lua 插件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3200400"/>
          </a:xfrm>
          <a:prstGeom prst="roundRect">
            <a:avLst/>
          </a:prstGeom>
          <a:solidFill>
            <a:srgbClr val="501E1E"/>
          </a:solidFill>
          <a:ln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3B30"/>
                </a:solidFill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[查阅文档] 2-3小时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[编写代码] 1-2小时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[本地编译] 30分钟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[发现问题] 不确定时间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总计: 4-6 小时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486400" cy="3200400"/>
          </a:xfrm>
          <a:prstGeom prst="roundRect">
            <a:avLst/>
          </a:prstGeom>
          <a:solidFill>
            <a:srgbClr val="1E503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4592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4C759"/>
                </a:solidFill>
              </a:defRPr>
            </a:pPr>
            <a:r>
              <a:t>Agent 辅助方式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194560"/>
            <a:ext cx="5120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/openresty-lua-plugins 5分钟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/dev all (sync→build→test) 10分钟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/fix-* (自动修复，如需要)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总计: 15-30 分钟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4846320"/>
            <a:ext cx="11277295" cy="1097280"/>
          </a:xfrm>
          <a:prstGeom prst="roundRect">
            <a:avLst/>
          </a:prstGeom>
          <a:solidFill>
            <a:srgbClr val="1E503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5029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CC00"/>
                </a:solidFill>
              </a:defRPr>
            </a:pPr>
            <a:r>
              <a:t>效率提升: 8-16 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下一步计划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3657600" cy="2286000"/>
          </a:xfrm>
          <a:prstGeom prst="roundRect">
            <a:avLst/>
          </a:prstGeom>
          <a:solidFill>
            <a:srgbClr val="2828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当前状态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</a:defRPr>
            </a:pPr>
            <a:r>
              <a:t>Skills 工具集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手动调用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657600" cy="2286000"/>
          </a:xfrm>
          <a:prstGeom prst="roundRect">
            <a:avLst/>
          </a:prstGeom>
          <a:solidFill>
            <a:srgbClr val="28284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短期目标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FCC00"/>
                </a:solidFill>
              </a:defRPr>
            </a:pPr>
            <a:r>
              <a:t>Agent 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8600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自动调用</a:t>
            </a:r>
            <a:br/>
            <a:r>
              <a:t>智能路由</a:t>
            </a:r>
            <a:br/>
            <a:r>
              <a:t>上下文传递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188720"/>
            <a:ext cx="3657600" cy="2286000"/>
          </a:xfrm>
          <a:prstGeom prst="roundRect">
            <a:avLst/>
          </a:prstGeom>
          <a:solidFill>
            <a:srgbClr val="282846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19" y="137160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8888"/>
                </a:solidFill>
              </a:defRPr>
            </a:pPr>
            <a:r>
              <a:t>长期愿景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19" y="173736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34C759"/>
                </a:solidFill>
              </a:defRPr>
            </a:pPr>
            <a:r>
              <a:t>自主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2286000"/>
            <a:ext cx="3291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需求理解</a:t>
            </a:r>
            <a:br/>
            <a:r>
              <a:t>自主设计</a:t>
            </a:r>
            <a:br/>
            <a:r>
              <a:t>自主测试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031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40480"/>
            <a:ext cx="11277295" cy="2286000"/>
          </a:xfrm>
          <a:prstGeom prst="roundRect">
            <a:avLst/>
          </a:prstGeom>
          <a:solidFill>
            <a:srgbClr val="1E3C3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023360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34C759"/>
                </a:solidFill>
              </a:defRPr>
            </a:pPr>
            <a:r>
              <a:t>具体计划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572000"/>
            <a:ext cx="108813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1. 技能编排自动化 - /dev all 自动串联修复链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2. 知识库扩充 - 每次开发自动反馈到 Memory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3. Agent 自主化 - 实现需求→交付闭环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Token 消耗优化策略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8888"/>
                </a:solidFill>
              </a:defRPr>
            </a:pPr>
            <a:r>
              <a:t>问题：连续对话导致 Token 成本指数级上升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77295" cy="82296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.claudeignore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544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忽略构建产物、依赖库、密钥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5544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减少 40% 无效加载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77295" cy="82296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688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CLAUDE.md 结构化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4688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明确模块介绍、目录结构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4688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避免重复理解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11277295" cy="82296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/clear 清理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383280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开发不同模块时清理历史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383280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阻断指数增长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206240"/>
            <a:ext cx="11277295" cy="82296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79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/compact 压缩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4297679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定期压缩对话历史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297679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保持上下文精简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77295" cy="822960"/>
          </a:xfrm>
          <a:prstGeom prst="rect">
            <a:avLst/>
          </a:prstGeom>
          <a:solidFill>
            <a:srgbClr val="323250"/>
          </a:solidFill>
          <a:ln>
            <a:solidFill>
              <a:srgbClr val="5050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212079"/>
            <a:ext cx="2743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SKILL 化拆分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5212079"/>
            <a:ext cx="4572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细粒度技能 + Reference 按需加载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5212079"/>
            <a:ext cx="3291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CC00"/>
                </a:solidFill>
              </a:defRPr>
            </a:pPr>
            <a:r>
              <a:t>精准 Token 消耗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Skill 化 + 渐进式解析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888888"/>
                </a:solidFill>
              </a:defRPr>
            </a:pPr>
            <a:r>
              <a:t>核心思想：细粒度拆分降低复杂度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63040"/>
            <a:ext cx="5486400" cy="1828800"/>
          </a:xfrm>
          <a:prstGeom prst="roundRect">
            <a:avLst/>
          </a:prstGeom>
          <a:solidFill>
            <a:srgbClr val="501E1E"/>
          </a:solidFill>
          <a:ln>
            <a:solidFill>
              <a:srgbClr val="FF3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3B30"/>
                </a:solidFill>
              </a:defRPr>
            </a:pPr>
            <a:r>
              <a:t>传统方式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用户需求 → AI 理解全部项目</a:t>
            </a:r>
          </a:p>
          <a:p>
            <a:pPr>
              <a:defRPr sz="1200">
                <a:solidFill>
                  <a:srgbClr val="FFCC00"/>
                </a:solidFill>
              </a:defRPr>
            </a:pPr>
            <a:r>
              <a:t>↓ 高 Token 消耗、高错误率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生成代码 → 可能出错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8095" y="1463040"/>
            <a:ext cx="5486400" cy="1828800"/>
          </a:xfrm>
          <a:prstGeom prst="roundRect">
            <a:avLst/>
          </a:prstGeom>
          <a:solidFill>
            <a:srgbClr val="1E503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0975" y="16459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C759"/>
                </a:solidFill>
              </a:defRPr>
            </a:pPr>
            <a:r>
              <a:t>Skill 化方式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30975" y="21031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用户需求 → 匹配 Skill → 加载 Reference</a:t>
            </a:r>
          </a:p>
          <a:p>
            <a:pPr>
              <a:defRPr sz="1200">
                <a:solidFill>
                  <a:srgbClr val="FFCC00"/>
                </a:solidFill>
              </a:defRPr>
            </a:pPr>
            <a:r>
              <a:t>↓ 精准匹配、低 Token、高准确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生成代码 → 高准确率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566160"/>
            <a:ext cx="11277295" cy="2743200"/>
          </a:xfrm>
          <a:prstGeom prst="roundRect">
            <a:avLst/>
          </a:prstGeom>
          <a:solidFill>
            <a:srgbClr val="1E32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3749039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D4FF"/>
                </a:solidFill>
              </a:defRPr>
            </a:pPr>
            <a:r>
              <a:t>Reference 示例: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0624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.claude/skills/</a:t>
            </a:r>
            <a:br/>
            <a:r>
              <a:t>├── openresty-lua-plugins/</a:t>
            </a:r>
            <a:br/>
            <a:r>
              <a:t>│   ├── SKILL.md              # 技能定义（按需加载）</a:t>
            </a:r>
            <a:br/>
            <a:r>
              <a:t>│   └── references/</a:t>
            </a:r>
            <a:br/>
            <a:r>
              <a:t>│       ├── http.md           # HTTP 插件模板</a:t>
            </a:r>
            <a:br/>
            <a:r>
              <a:t>│       └── stream.md         # TCP/UDP 插件模板</a:t>
            </a:r>
            <a:br/>
            <a:r>
              <a:t>├── fix-compile/</a:t>
            </a:r>
            <a:br/>
            <a:r>
              <a:t>│   └── SKILL.md              # 仅加载需要的修复规则</a:t>
            </a:r>
            <a:br/>
            <a:r>
              <a:t>└── fix-test/</a:t>
            </a:r>
            <a:br/>
            <a:r>
              <a:t>    └── SKILL.md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D4FF"/>
                </a:solidFill>
              </a:defRPr>
            </a:pPr>
            <a:r>
              <a:t>E2E 流程打通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11277295" cy="1645920"/>
          </a:xfrm>
          <a:prstGeom prst="roundRect">
            <a:avLst/>
          </a:prstGeom>
          <a:solidFill>
            <a:srgbClr val="1E3246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82880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sync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371600"/>
            <a:ext cx="182880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371600"/>
            <a:ext cx="182880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79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371600"/>
            <a:ext cx="182880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analyze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55448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CC00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371600"/>
            <a:ext cx="1828800" cy="73152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A1A2E"/>
                </a:solidFill>
              </a:defRPr>
            </a:pPr>
            <a: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CC00"/>
                </a:solidFill>
              </a:defRPr>
            </a:pPr>
            <a:r>
              <a:t>/dev all 自动化流水线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26080"/>
            <a:ext cx="11277295" cy="1828800"/>
          </a:xfrm>
          <a:prstGeom prst="roundRect">
            <a:avLst/>
          </a:prstGeom>
          <a:solidFill>
            <a:srgbClr val="1E3C3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C759"/>
                </a:solidFill>
              </a:defRPr>
            </a:pPr>
            <a:r>
              <a:t>失败时自动处理流程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56616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1. 匹配 tools/fixers/*.yaml 预制规则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2. 输出结构化错误分析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3. 建议调用 /fix-compile | /fix-test | /fix-runtime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4. /fix-loop 自动迭代直到成功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77295" cy="1371600"/>
          </a:xfrm>
          <a:prstGeom prst="roundRect">
            <a:avLst/>
          </a:prstGeom>
          <a:solidFill>
            <a:srgbClr val="323250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10881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CC00"/>
                </a:solidFill>
              </a:defRPr>
            </a:pPr>
            <a:r>
              <a:t>跨平台透明化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864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Windows 本地 → SSH (paramiko) → Linux 远程执行 → 返回结果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D4FF"/>
                </a:solidFill>
              </a:defRPr>
            </a:pPr>
            <a:r>
              <a:t>总结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11277295" cy="3200400"/>
          </a:xfrm>
          <a:prstGeom prst="roundRect">
            <a:avLst/>
          </a:prstGeom>
          <a:solidFill>
            <a:srgbClr val="1E3246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本项目基于 Google Agent 白皮书的 Model-Tools-Orchestration-Knowledge 架构理念，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构建了一套"项目规范驱动 + 技能细粒度拆分 + 知识自动沉淀 + 端到端流水线"的 AI 辅助开发体系：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00D4FF"/>
                </a:solidFill>
              </a:defRPr>
            </a:pPr>
            <a:r>
              <a:t>• 以 CLAUDE.md 作为认知入口让 AI 理解项目上下文</a:t>
            </a:r>
          </a:p>
          <a:p>
            <a:pPr>
              <a:defRPr sz="1600">
                <a:solidFill>
                  <a:srgbClr val="00D4FF"/>
                </a:solidFill>
              </a:defRPr>
            </a:pPr>
            <a:r>
              <a:t>• 以 Skills/ 按需加载 Reference 实现精准低耗调用</a:t>
            </a:r>
          </a:p>
          <a:p>
            <a:pPr>
              <a:defRPr sz="1600">
                <a:solidFill>
                  <a:srgbClr val="00D4FF"/>
                </a:solidFill>
              </a:defRPr>
            </a:pPr>
            <a:r>
              <a:t>• 以 Memory/ 持续积累开发知识形成闭环</a:t>
            </a:r>
          </a:p>
          <a:p>
            <a:pPr>
              <a:defRPr sz="1600">
                <a:solidFill>
                  <a:srgbClr val="00D4FF"/>
                </a:solidFill>
              </a:defRPr>
            </a:pPr>
            <a:r>
              <a:t>• 以 /dev all 串联 sync→build→test→fix 全流程自动化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endParaRPr/>
          </a:p>
          <a:p>
            <a:pPr>
              <a:defRPr sz="1600">
                <a:solidFill>
                  <a:srgbClr val="FFFFFF"/>
                </a:solidFill>
              </a:defRPr>
            </a:pPr>
            <a:r>
              <a:t>最终将传统 4-6 小时的开发周期压缩至 15-30 分钟，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实现了从"人驱动工具"到"Agent 驱动开发"的范式跃迁。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846320"/>
            <a:ext cx="5790895" cy="1097280"/>
          </a:xfrm>
          <a:prstGeom prst="roundRect">
            <a:avLst/>
          </a:prstGeom>
          <a:solidFill>
            <a:srgbClr val="1E503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00400" y="5029200"/>
            <a:ext cx="5790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CC00"/>
                </a:solidFill>
              </a:defRPr>
            </a:pPr>
            <a:r>
              <a:t>效率提升: 8-16 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CC00"/>
                </a:solidFill>
              </a:defRPr>
            </a:pPr>
            <a: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888888"/>
                </a:solidFill>
              </a:defRPr>
            </a:pPr>
            <a:r>
              <a:t>OpenResty Skills  |  Claude Code Agent  |  端到端自动化开发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46478"/>
                </a:solidFill>
              </a:defRPr>
            </a:pPr>
            <a:r>
              <a:t>演示: /openresty-lua-plugins → /dev all → /feedback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627</Words>
  <Application>Microsoft Office PowerPoint</Application>
  <PresentationFormat>宽屏</PresentationFormat>
  <Paragraphs>154</Paragraphs>
  <Slides>11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等线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m30020610</cp:lastModifiedBy>
  <cp:revision>3</cp:revision>
  <dcterms:created xsi:type="dcterms:W3CDTF">2013-01-27T09:14:16Z</dcterms:created>
  <dcterms:modified xsi:type="dcterms:W3CDTF">2026-03-17T10:27:25Z</dcterms:modified>
  <cp:category/>
</cp:coreProperties>
</file>