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11277295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400" b="1">
                <a:solidFill>
                  <a:srgbClr val="00D4FF"/>
                </a:solidFill>
              </a:defRPr>
            </a:pPr>
            <a:r>
              <a:t>AI Coding 探索 Showcase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4747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>
                <a:solidFill>
                  <a:srgbClr val="FFCC00"/>
                </a:solidFill>
              </a:defRPr>
            </a:pPr>
            <a:r>
              <a:t>基于 Claude Code 的 Agent 开发实践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00D4FF"/>
                </a:solidFill>
              </a:defRPr>
            </a:pPr>
            <a:r>
              <a:t>研发痛点问题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280160"/>
            <a:ext cx="11277295" cy="1463040"/>
          </a:xfrm>
          <a:prstGeom prst="roundRect">
            <a:avLst/>
          </a:prstGeom>
          <a:solidFill>
            <a:srgbClr val="501E1E"/>
          </a:solidFill>
          <a:ln>
            <a:solidFill>
              <a:srgbClr val="FF3B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881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3B30"/>
                </a:solidFill>
              </a:defRPr>
            </a:pPr>
            <a:r>
              <a:t>痛点 1: 上下文理解成本高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108813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FFFFFF"/>
                </a:solidFill>
              </a:defRPr>
            </a:pPr>
            <a:r>
              <a:t>• 每次对话需要重新解释项目结构</a:t>
            </a:r>
          </a:p>
          <a:p>
            <a:pPr>
              <a:defRPr sz="1600">
                <a:solidFill>
                  <a:srgbClr val="FFFFFF"/>
                </a:solidFill>
              </a:defRPr>
            </a:pPr>
            <a:r>
              <a:t>• AI 缺乏项目知识积累机制</a:t>
            </a:r>
          </a:p>
          <a:p>
            <a:pPr>
              <a:defRPr sz="1600">
                <a:solidFill>
                  <a:srgbClr val="FFFFFF"/>
                </a:solidFill>
              </a:defRPr>
            </a:pPr>
            <a:r>
              <a:t>• 重复性沟通消耗大量时间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3017520"/>
            <a:ext cx="11277295" cy="1463040"/>
          </a:xfrm>
          <a:prstGeom prst="roundRect">
            <a:avLst/>
          </a:prstGeom>
          <a:solidFill>
            <a:srgbClr val="501E1E"/>
          </a:solidFill>
          <a:ln>
            <a:solidFill>
              <a:srgbClr val="FF3B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3108960"/>
            <a:ext cx="10881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3B30"/>
                </a:solidFill>
              </a:defRPr>
            </a:pPr>
            <a:r>
              <a:t>痛点 2: 开发流程碎片化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474720"/>
            <a:ext cx="108813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FFFFFF"/>
                </a:solidFill>
              </a:defRPr>
            </a:pPr>
            <a:r>
              <a:t>• 构建/测试/部署 需要切换多个环境</a:t>
            </a:r>
          </a:p>
          <a:p>
            <a:pPr>
              <a:defRPr sz="1600">
                <a:solidFill>
                  <a:srgbClr val="FFFFFF"/>
                </a:solidFill>
              </a:defRPr>
            </a:pPr>
            <a:r>
              <a:t>• 错误修复缺乏系统性方法</a:t>
            </a:r>
          </a:p>
          <a:p>
            <a:pPr>
              <a:defRPr sz="1600">
                <a:solidFill>
                  <a:srgbClr val="FFFFFF"/>
                </a:solidFill>
              </a:defRPr>
            </a:pPr>
            <a:r>
              <a:t>• 跨平台开发（Windows编辑 + Linux运行）复杂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4754879"/>
            <a:ext cx="11277295" cy="1463040"/>
          </a:xfrm>
          <a:prstGeom prst="roundRect">
            <a:avLst/>
          </a:prstGeom>
          <a:solidFill>
            <a:srgbClr val="501E1E"/>
          </a:solidFill>
          <a:ln>
            <a:solidFill>
              <a:srgbClr val="FF3B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4846319"/>
            <a:ext cx="10881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3B30"/>
                </a:solidFill>
              </a:defRPr>
            </a:pPr>
            <a:r>
              <a:t>痛点 3: Token 成本指数级增长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212079"/>
            <a:ext cx="108813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FFFFFF"/>
                </a:solidFill>
              </a:defRPr>
            </a:pPr>
            <a:r>
              <a:t>• 连续对话导致历史上下文堆积</a:t>
            </a:r>
          </a:p>
          <a:p>
            <a:pPr>
              <a:defRPr sz="1600">
                <a:solidFill>
                  <a:srgbClr val="FFFFFF"/>
                </a:solidFill>
              </a:defRPr>
            </a:pPr>
            <a:r>
              <a:t>• 无效信息被重复加载</a:t>
            </a:r>
          </a:p>
          <a:p>
            <a:pPr>
              <a:defRPr sz="1600">
                <a:solidFill>
                  <a:srgbClr val="FFFFFF"/>
                </a:solidFill>
              </a:defRPr>
            </a:pPr>
            <a:r>
              <a:t>• 长期对话成本难以控制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00D4FF"/>
                </a:solidFill>
              </a:defRPr>
            </a:pPr>
            <a:r>
              <a:t>Google Agent 白皮书核心理念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112772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FFCC00"/>
                </a:solidFill>
              </a:defRPr>
            </a:pPr>
            <a:r>
              <a:t>Agent = Model + Tools + Orchestration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0" y="1645920"/>
            <a:ext cx="3962095" cy="914400"/>
          </a:xfrm>
          <a:prstGeom prst="roundRect">
            <a:avLst/>
          </a:prstGeom>
          <a:solidFill>
            <a:srgbClr val="323250"/>
          </a:solidFill>
          <a:ln>
            <a:solidFill>
              <a:srgbClr val="FFC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CC00"/>
                </a:solidFill>
              </a:defRPr>
            </a:pPr>
            <a:r>
              <a:t>Orchestration (编排层)</a:t>
            </a:r>
          </a:p>
          <a:p>
            <a:pPr algn="ctr">
              <a:defRPr sz="1400">
                <a:solidFill>
                  <a:srgbClr val="FFFFFF"/>
                </a:solidFill>
              </a:defRPr>
            </a:pPr>
            <a:r>
              <a:t>规划、推理、决策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2160" y="2606040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00D4FF"/>
                </a:solidFill>
              </a:defRPr>
            </a:pPr>
            <a:r>
              <a:t>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017520"/>
            <a:ext cx="3200400" cy="2011680"/>
          </a:xfrm>
          <a:prstGeom prst="roundRect">
            <a:avLst/>
          </a:prstGeom>
          <a:solidFill>
            <a:srgbClr val="282846"/>
          </a:solidFill>
          <a:ln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00D4FF"/>
                </a:solidFill>
              </a:defRPr>
            </a:pPr>
            <a:r>
              <a:t>Model (大模型)</a:t>
            </a:r>
          </a:p>
          <a:p>
            <a:pPr algn="l">
              <a:defRPr sz="1400">
                <a:solidFill>
                  <a:srgbClr val="FFFFFF"/>
                </a:solidFill>
              </a:defRPr>
            </a:pPr>
            <a:r>
              <a:t>• 推理能力</a:t>
            </a:r>
          </a:p>
          <a:p>
            <a:pPr algn="l">
              <a:defRPr sz="1400">
                <a:solidFill>
                  <a:srgbClr val="FFFFFF"/>
                </a:solidFill>
              </a:defRPr>
            </a:pPr>
            <a:r>
              <a:t>• 语言理解</a:t>
            </a:r>
          </a:p>
          <a:p>
            <a:pPr algn="l">
              <a:defRPr sz="1400">
                <a:solidFill>
                  <a:srgbClr val="FFFFFF"/>
                </a:solidFill>
              </a:defRPr>
            </a:pPr>
            <a:r>
              <a:t>• 决策制定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80560" y="3017520"/>
            <a:ext cx="3200400" cy="2011680"/>
          </a:xfrm>
          <a:prstGeom prst="roundRect">
            <a:avLst/>
          </a:prstGeom>
          <a:solidFill>
            <a:srgbClr val="282846"/>
          </a:solidFill>
          <a:ln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00D4FF"/>
                </a:solidFill>
              </a:defRPr>
            </a:pPr>
            <a:r>
              <a:t>Tools (工具集)</a:t>
            </a:r>
          </a:p>
          <a:p>
            <a:pPr algn="l">
              <a:defRPr sz="1400">
                <a:solidFill>
                  <a:srgbClr val="FFFFFF"/>
                </a:solidFill>
              </a:defRPr>
            </a:pPr>
            <a:r>
              <a:t>• 文件操作</a:t>
            </a:r>
          </a:p>
          <a:p>
            <a:pPr algn="l">
              <a:defRPr sz="1400">
                <a:solidFill>
                  <a:srgbClr val="FFFFFF"/>
                </a:solidFill>
              </a:defRPr>
            </a:pPr>
            <a:r>
              <a:t>• 代码执行</a:t>
            </a:r>
          </a:p>
          <a:p>
            <a:pPr algn="l">
              <a:defRPr sz="1400">
                <a:solidFill>
                  <a:srgbClr val="FFFFFF"/>
                </a:solidFill>
              </a:defRPr>
            </a:pPr>
            <a:r>
              <a:t>• 网络请求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0" y="3017520"/>
            <a:ext cx="3200400" cy="2011680"/>
          </a:xfrm>
          <a:prstGeom prst="roundRect">
            <a:avLst/>
          </a:prstGeom>
          <a:solidFill>
            <a:srgbClr val="282846"/>
          </a:solidFill>
          <a:ln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00D4FF"/>
                </a:solidFill>
              </a:defRPr>
            </a:pPr>
            <a:r>
              <a:t>Knowledge (知识库)</a:t>
            </a:r>
          </a:p>
          <a:p>
            <a:pPr algn="l">
              <a:defRPr sz="1400">
                <a:solidFill>
                  <a:srgbClr val="FFFFFF"/>
                </a:solidFill>
              </a:defRPr>
            </a:pPr>
            <a:r>
              <a:t>• 项目记忆</a:t>
            </a:r>
          </a:p>
          <a:p>
            <a:pPr algn="l">
              <a:defRPr sz="1400">
                <a:solidFill>
                  <a:srgbClr val="FFFFFF"/>
                </a:solidFill>
              </a:defRPr>
            </a:pPr>
            <a:r>
              <a:t>• 最佳实践</a:t>
            </a:r>
          </a:p>
          <a:p>
            <a:pPr algn="l">
              <a:defRPr sz="1400">
                <a:solidFill>
                  <a:srgbClr val="FFFFFF"/>
                </a:solidFill>
              </a:defRPr>
            </a:pPr>
            <a:r>
              <a:t>• 错误修复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5303520"/>
            <a:ext cx="11277295" cy="914400"/>
          </a:xfrm>
          <a:prstGeom prst="roundRect">
            <a:avLst/>
          </a:prstGeom>
          <a:solidFill>
            <a:srgbClr val="1E3C50"/>
          </a:solidFill>
          <a:ln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>
                <a:solidFill>
                  <a:srgbClr val="FFFFFF"/>
                </a:solidFill>
              </a:defRPr>
            </a:pPr>
            <a:r>
              <a:t>Agent 工作循环:  感知 → 推理 → 行动 → 观察 → 循环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00D4FF"/>
                </a:solidFill>
              </a:defRPr>
            </a:pPr>
            <a:r>
              <a:t>项目解决方案 - Skills 体系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097280"/>
            <a:ext cx="11277295" cy="2560320"/>
          </a:xfrm>
          <a:prstGeom prst="roundRect">
            <a:avLst/>
          </a:prstGeom>
          <a:solidFill>
            <a:srgbClr val="1E3246"/>
          </a:solidFill>
          <a:ln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32004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D4FF"/>
                </a:solidFill>
              </a:defRPr>
            </a:pPr>
            <a:r>
              <a:t>CLAUDE.md (项目规范)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931920" y="1280160"/>
            <a:ext cx="4572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FCC00"/>
                </a:solidFill>
              </a:defRPr>
            </a:pPr>
            <a:r>
              <a:t>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0" y="1280160"/>
            <a:ext cx="2286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CC00"/>
                </a:solidFill>
              </a:defRPr>
            </a:pPr>
            <a:r>
              <a:t>Orchestration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1280160"/>
            <a:ext cx="4572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FFFFFF"/>
                </a:solidFill>
              </a:defRPr>
            </a:pPr>
            <a:r>
              <a:t>结构说明、开发指南、模块介绍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011680"/>
            <a:ext cx="32004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D4FF"/>
                </a:solidFill>
              </a:defRPr>
            </a:pPr>
            <a:r>
              <a:t>Skills/ (技能定义)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2011680"/>
            <a:ext cx="4572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FCC00"/>
                </a:solidFill>
              </a:defRPr>
            </a:pPr>
            <a:r>
              <a:t>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2011680"/>
            <a:ext cx="2286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CC00"/>
                </a:solidFill>
              </a:defRPr>
            </a:pPr>
            <a:r>
              <a:t>Tools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0" y="2011680"/>
            <a:ext cx="4572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FFFFFF"/>
                </a:solidFill>
              </a:defRPr>
            </a:pPr>
            <a:r>
              <a:t>dev, fix-*, code-*, openresty-lua-plugins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743200"/>
            <a:ext cx="32004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D4FF"/>
                </a:solidFill>
              </a:defRPr>
            </a:pPr>
            <a:r>
              <a:t>Memory/ (知识积累)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2743200"/>
            <a:ext cx="4572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FCC00"/>
                </a:solidFill>
              </a:defRPr>
            </a:pPr>
            <a:r>
              <a:t>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2743200"/>
            <a:ext cx="2286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CC00"/>
                </a:solidFill>
              </a:defRPr>
            </a:pPr>
            <a:r>
              <a:t>Knowledge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0" y="2743200"/>
            <a:ext cx="4572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FFFFFF"/>
                </a:solidFill>
              </a:defRPr>
            </a:pPr>
            <a:r>
              <a:t>已解决问题、架构决策、最佳实践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840480"/>
            <a:ext cx="112772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CC00"/>
                </a:solidFill>
              </a:defRPr>
            </a:pPr>
            <a:r>
              <a:t>Skills 分类: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297680"/>
            <a:ext cx="11277295" cy="457200"/>
          </a:xfrm>
          <a:prstGeom prst="rect">
            <a:avLst/>
          </a:prstGeom>
          <a:solidFill>
            <a:srgbClr val="323250"/>
          </a:solidFill>
          <a:ln>
            <a:solidFill>
              <a:srgbClr val="5050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438912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0D4FF"/>
                </a:solidFill>
              </a:defRPr>
            </a:pPr>
            <a:r>
              <a:t>核心开发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468880" y="4389120"/>
            <a:ext cx="5029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FFFFFF"/>
                </a:solidFill>
              </a:defRPr>
            </a:pPr>
            <a:r>
              <a:t>dev, openresty-lua-plugins, web-admin-frontend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89520" y="4389120"/>
            <a:ext cx="3931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888888"/>
                </a:solidFill>
              </a:defRPr>
            </a:pPr>
            <a:r>
              <a:t>开发入口、插件生成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800600"/>
            <a:ext cx="11277295" cy="457200"/>
          </a:xfrm>
          <a:prstGeom prst="rect">
            <a:avLst/>
          </a:prstGeom>
          <a:solidFill>
            <a:srgbClr val="323250"/>
          </a:solidFill>
          <a:ln>
            <a:solidFill>
              <a:srgbClr val="5050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489204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0D4FF"/>
                </a:solidFill>
              </a:defRPr>
            </a:pPr>
            <a:r>
              <a:t>错误修复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468880" y="4892040"/>
            <a:ext cx="5029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FFFFFF"/>
                </a:solidFill>
              </a:defRPr>
            </a:pPr>
            <a:r>
              <a:t>fix-compile, fix-test, fix-runtime, fix-loop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89520" y="4892040"/>
            <a:ext cx="3931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888888"/>
                </a:solidFill>
              </a:defRPr>
            </a:pPr>
            <a:r>
              <a:t>自动分析修复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5303520"/>
            <a:ext cx="11277295" cy="457200"/>
          </a:xfrm>
          <a:prstGeom prst="rect">
            <a:avLst/>
          </a:prstGeom>
          <a:solidFill>
            <a:srgbClr val="323250"/>
          </a:solidFill>
          <a:ln>
            <a:solidFill>
              <a:srgbClr val="5050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5394959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0D4FF"/>
                </a:solidFill>
              </a:defRPr>
            </a:pPr>
            <a:r>
              <a:t>代码质量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468880" y="5394959"/>
            <a:ext cx="5029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FFFFFF"/>
                </a:solidFill>
              </a:defRPr>
            </a:pPr>
            <a:r>
              <a:t>code-review, code-reactor, feedback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89520" y="5394959"/>
            <a:ext cx="3931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888888"/>
                </a:solidFill>
              </a:defRPr>
            </a:pPr>
            <a:r>
              <a:t>质量保障、知识沉淀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5806440"/>
            <a:ext cx="11277295" cy="457200"/>
          </a:xfrm>
          <a:prstGeom prst="rect">
            <a:avLst/>
          </a:prstGeom>
          <a:solidFill>
            <a:srgbClr val="323250"/>
          </a:solidFill>
          <a:ln>
            <a:solidFill>
              <a:srgbClr val="5050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8640" y="5897879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0D4FF"/>
                </a:solidFill>
              </a:defRPr>
            </a:pPr>
            <a:r>
              <a:t>DevOps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468880" y="5897879"/>
            <a:ext cx="5029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FFFFFF"/>
                </a:solidFill>
              </a:defRPr>
            </a:pPr>
            <a:r>
              <a:t>jenkins-pipeline, monitor-observability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89520" y="5897879"/>
            <a:ext cx="3931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888888"/>
                </a:solidFill>
              </a:defRPr>
            </a:pPr>
            <a:r>
              <a:t>CI/CD、监控运维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00D4FF"/>
                </a:solidFill>
              </a:defRPr>
            </a:pPr>
            <a:r>
              <a:t>端到端开发流程实例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772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888888"/>
                </a:solidFill>
              </a:defRPr>
            </a:pPr>
            <a:r>
              <a:t>场景：开发一个 OpenResty Lua 插件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463040"/>
            <a:ext cx="5486400" cy="3200400"/>
          </a:xfrm>
          <a:prstGeom prst="roundRect">
            <a:avLst/>
          </a:prstGeom>
          <a:solidFill>
            <a:srgbClr val="501E1E"/>
          </a:solidFill>
          <a:ln>
            <a:solidFill>
              <a:srgbClr val="FF3B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45920"/>
            <a:ext cx="51206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3B30"/>
                </a:solidFill>
              </a:defRPr>
            </a:pPr>
            <a:r>
              <a:t>传统方式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94560"/>
            <a:ext cx="51206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FFFFFF"/>
                </a:solidFill>
              </a:defRPr>
            </a:pPr>
            <a:r>
              <a:t>[查阅文档] 2-3小时</a:t>
            </a:r>
          </a:p>
          <a:p>
            <a:pPr>
              <a:defRPr sz="1600">
                <a:solidFill>
                  <a:srgbClr val="FFFFFF"/>
                </a:solidFill>
              </a:defRPr>
            </a:pPr>
            <a:r>
              <a:t>[编写代码] 1-2小时</a:t>
            </a:r>
          </a:p>
          <a:p>
            <a:pPr>
              <a:defRPr sz="1600">
                <a:solidFill>
                  <a:srgbClr val="FFFFFF"/>
                </a:solidFill>
              </a:defRPr>
            </a:pPr>
            <a:r>
              <a:t>[本地编译] 30分钟</a:t>
            </a:r>
          </a:p>
          <a:p>
            <a:pPr>
              <a:defRPr sz="1600">
                <a:solidFill>
                  <a:srgbClr val="FFFFFF"/>
                </a:solidFill>
              </a:defRPr>
            </a:pPr>
            <a:r>
              <a:t>[发现问题] 不确定时间</a:t>
            </a:r>
          </a:p>
          <a:p>
            <a:pPr>
              <a:defRPr sz="1600">
                <a:solidFill>
                  <a:srgbClr val="FFFFFF"/>
                </a:solidFill>
              </a:defRPr>
            </a:pPr>
          </a:p>
          <a:p>
            <a:pPr>
              <a:defRPr sz="1600">
                <a:solidFill>
                  <a:srgbClr val="FFFFFF"/>
                </a:solidFill>
              </a:defRPr>
            </a:pPr>
            <a:r>
              <a:t>总计: 4-6 小时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48095" y="1463040"/>
            <a:ext cx="5486400" cy="3200400"/>
          </a:xfrm>
          <a:prstGeom prst="roundRect">
            <a:avLst/>
          </a:prstGeom>
          <a:solidFill>
            <a:srgbClr val="1E5032"/>
          </a:solidFill>
          <a:ln>
            <a:solidFill>
              <a:srgbClr val="34C7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30975" y="1645920"/>
            <a:ext cx="51206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34C759"/>
                </a:solidFill>
              </a:defRPr>
            </a:pPr>
            <a:r>
              <a:t>Agent 辅助方式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30975" y="2194560"/>
            <a:ext cx="51206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FFFFFF"/>
                </a:solidFill>
              </a:defRPr>
            </a:pPr>
            <a:r>
              <a:t>/openresty-lua-plugins 5分钟</a:t>
            </a:r>
          </a:p>
          <a:p>
            <a:pPr>
              <a:defRPr sz="1600">
                <a:solidFill>
                  <a:srgbClr val="FFFFFF"/>
                </a:solidFill>
              </a:defRPr>
            </a:pPr>
            <a:r>
              <a:t>/dev all (sync→build→test) 10分钟</a:t>
            </a:r>
          </a:p>
          <a:p>
            <a:pPr>
              <a:defRPr sz="1600">
                <a:solidFill>
                  <a:srgbClr val="FFFFFF"/>
                </a:solidFill>
              </a:defRPr>
            </a:pPr>
            <a:r>
              <a:t>/fix-* (自动修复，如需要)</a:t>
            </a:r>
          </a:p>
          <a:p>
            <a:pPr>
              <a:defRPr sz="1600">
                <a:solidFill>
                  <a:srgbClr val="FFFFFF"/>
                </a:solidFill>
              </a:defRPr>
            </a:pPr>
          </a:p>
          <a:p>
            <a:pPr>
              <a:defRPr sz="1600">
                <a:solidFill>
                  <a:srgbClr val="FFFFFF"/>
                </a:solidFill>
              </a:defRPr>
            </a:pPr>
            <a:r>
              <a:t>总计: 15-30 分钟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846320"/>
            <a:ext cx="11277295" cy="1097280"/>
          </a:xfrm>
          <a:prstGeom prst="roundRect">
            <a:avLst/>
          </a:prstGeom>
          <a:solidFill>
            <a:srgbClr val="1E5032"/>
          </a:solidFill>
          <a:ln>
            <a:solidFill>
              <a:srgbClr val="34C7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502920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CC00"/>
                </a:solidFill>
              </a:defRPr>
            </a:pPr>
            <a:r>
              <a:t>效率提升: 8-16 倍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00D4FF"/>
                </a:solidFill>
              </a:defRPr>
            </a:pPr>
            <a:r>
              <a:t>下一步计划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188720"/>
            <a:ext cx="3657600" cy="2286000"/>
          </a:xfrm>
          <a:prstGeom prst="roundRect">
            <a:avLst/>
          </a:prstGeom>
          <a:solidFill>
            <a:srgbClr val="282846"/>
          </a:solidFill>
          <a:ln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3291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888888"/>
                </a:solidFill>
              </a:defRPr>
            </a:pPr>
            <a:r>
              <a:t>当前状态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3291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00D4FF"/>
                </a:solidFill>
              </a:defRPr>
            </a:pPr>
            <a:r>
              <a:t>Skills 工具集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86000"/>
            <a:ext cx="32918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FFFFFF"/>
                </a:solidFill>
              </a:defRPr>
            </a:pPr>
            <a:r>
              <a:t>手动调用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188720"/>
            <a:ext cx="3657600" cy="2286000"/>
          </a:xfrm>
          <a:prstGeom prst="roundRect">
            <a:avLst/>
          </a:prstGeom>
          <a:solidFill>
            <a:srgbClr val="282846"/>
          </a:solidFill>
          <a:ln>
            <a:solidFill>
              <a:srgbClr val="FFC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1371600"/>
            <a:ext cx="3291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888888"/>
                </a:solidFill>
              </a:defRPr>
            </a:pPr>
            <a:r>
              <a:t>短期目标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1737360"/>
            <a:ext cx="3291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FFCC00"/>
                </a:solidFill>
              </a:defRPr>
            </a:pPr>
            <a:r>
              <a:t>Agent 化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2286000"/>
            <a:ext cx="32918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FFFFFF"/>
                </a:solidFill>
              </a:defRPr>
            </a:pPr>
            <a:r>
              <a:t>自动调用</a:t>
            </a:r>
            <a:br/>
            <a:r>
              <a:t>智能路由</a:t>
            </a:r>
            <a:br/>
            <a:r>
              <a:t>上下文传递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321040" y="1188720"/>
            <a:ext cx="3657600" cy="2286000"/>
          </a:xfrm>
          <a:prstGeom prst="roundRect">
            <a:avLst/>
          </a:prstGeom>
          <a:solidFill>
            <a:srgbClr val="282846"/>
          </a:solidFill>
          <a:ln>
            <a:solidFill>
              <a:srgbClr val="34C7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03919" y="1371600"/>
            <a:ext cx="3291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888888"/>
                </a:solidFill>
              </a:defRPr>
            </a:pPr>
            <a:r>
              <a:t>长期愿景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19" y="1737360"/>
            <a:ext cx="3291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34C759"/>
                </a:solidFill>
              </a:defRPr>
            </a:pPr>
            <a:r>
              <a:t>自主 Agent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19" y="2286000"/>
            <a:ext cx="32918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FFFFFF"/>
                </a:solidFill>
              </a:defRPr>
            </a:pPr>
            <a:r>
              <a:t>需求理解</a:t>
            </a:r>
            <a:br/>
            <a:r>
              <a:t>自主设计</a:t>
            </a:r>
            <a:br/>
            <a:r>
              <a:t>自主测试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31920" y="210312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FFCC00"/>
                </a:solidFill>
              </a:defRPr>
            </a:pPr>
            <a:r>
              <a:t>→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0" y="210312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FFCC00"/>
                </a:solidFill>
              </a:defRPr>
            </a:pPr>
            <a: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840480"/>
            <a:ext cx="11277295" cy="2286000"/>
          </a:xfrm>
          <a:prstGeom prst="roundRect">
            <a:avLst/>
          </a:prstGeom>
          <a:solidFill>
            <a:srgbClr val="1E3C32"/>
          </a:solidFill>
          <a:ln>
            <a:solidFill>
              <a:srgbClr val="34C7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4023360"/>
            <a:ext cx="10881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34C759"/>
                </a:solidFill>
              </a:defRPr>
            </a:pPr>
            <a:r>
              <a:t>具体计划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4572000"/>
            <a:ext cx="1088136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FFFFFF"/>
                </a:solidFill>
              </a:defRPr>
            </a:pPr>
            <a:r>
              <a:t>1. 技能编排自动化 - /dev all 自动串联修复链</a:t>
            </a:r>
          </a:p>
          <a:p>
            <a:pPr>
              <a:defRPr sz="1600">
                <a:solidFill>
                  <a:srgbClr val="FFFFFF"/>
                </a:solidFill>
              </a:defRPr>
            </a:pPr>
            <a:r>
              <a:t>2. 知识库扩充 - 每次开发自动反馈到 Memory</a:t>
            </a:r>
          </a:p>
          <a:p>
            <a:pPr>
              <a:defRPr sz="1600">
                <a:solidFill>
                  <a:srgbClr val="FFFFFF"/>
                </a:solidFill>
              </a:defRPr>
            </a:pPr>
            <a:r>
              <a:t>3. Agent 自主化 - 实现需求→交付闭环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00D4FF"/>
                </a:solidFill>
              </a:defRPr>
            </a:pPr>
            <a:r>
              <a:t>Token 消耗优化策略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772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888888"/>
                </a:solidFill>
              </a:defRPr>
            </a:pPr>
            <a:r>
              <a:t>问题：连续对话导致 Token 成本指数级上升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77295" cy="822960"/>
          </a:xfrm>
          <a:prstGeom prst="rect">
            <a:avLst/>
          </a:prstGeom>
          <a:solidFill>
            <a:srgbClr val="323250"/>
          </a:solidFill>
          <a:ln>
            <a:solidFill>
              <a:srgbClr val="5050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27432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D4FF"/>
                </a:solidFill>
              </a:defRPr>
            </a:pPr>
            <a:r>
              <a:t>.claudeignore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74720" y="1554480"/>
            <a:ext cx="4572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FFFFFF"/>
                </a:solidFill>
              </a:defRPr>
            </a:pPr>
            <a:r>
              <a:t>忽略构建产物、依赖库、密钥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1554480"/>
            <a:ext cx="32918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CC00"/>
                </a:solidFill>
              </a:defRPr>
            </a:pPr>
            <a:r>
              <a:t>减少 40% 无效加载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377440"/>
            <a:ext cx="11277295" cy="822960"/>
          </a:xfrm>
          <a:prstGeom prst="rect">
            <a:avLst/>
          </a:prstGeom>
          <a:solidFill>
            <a:srgbClr val="323250"/>
          </a:solidFill>
          <a:ln>
            <a:solidFill>
              <a:srgbClr val="5050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468880"/>
            <a:ext cx="27432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D4FF"/>
                </a:solidFill>
              </a:defRPr>
            </a:pPr>
            <a:r>
              <a:t>CLAUDE.md 结构化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0" y="2468880"/>
            <a:ext cx="4572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FFFFFF"/>
                </a:solidFill>
              </a:defRPr>
            </a:pPr>
            <a:r>
              <a:t>明确模块介绍、目录结构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2468880"/>
            <a:ext cx="32918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CC00"/>
                </a:solidFill>
              </a:defRPr>
            </a:pPr>
            <a:r>
              <a:t>避免重复理解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291840"/>
            <a:ext cx="11277295" cy="822960"/>
          </a:xfrm>
          <a:prstGeom prst="rect">
            <a:avLst/>
          </a:prstGeom>
          <a:solidFill>
            <a:srgbClr val="323250"/>
          </a:solidFill>
          <a:ln>
            <a:solidFill>
              <a:srgbClr val="5050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3383280"/>
            <a:ext cx="27432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D4FF"/>
                </a:solidFill>
              </a:defRPr>
            </a:pPr>
            <a:r>
              <a:t>/clear 清理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720" y="3383280"/>
            <a:ext cx="4572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FFFFFF"/>
                </a:solidFill>
              </a:defRPr>
            </a:pPr>
            <a:r>
              <a:t>开发不同模块时清理历史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0" y="3383280"/>
            <a:ext cx="32918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CC00"/>
                </a:solidFill>
              </a:defRPr>
            </a:pPr>
            <a:r>
              <a:t>阻断指数增长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206240"/>
            <a:ext cx="11277295" cy="822960"/>
          </a:xfrm>
          <a:prstGeom prst="rect">
            <a:avLst/>
          </a:prstGeom>
          <a:solidFill>
            <a:srgbClr val="323250"/>
          </a:solidFill>
          <a:ln>
            <a:solidFill>
              <a:srgbClr val="5050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4297679"/>
            <a:ext cx="27432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D4FF"/>
                </a:solidFill>
              </a:defRPr>
            </a:pPr>
            <a:r>
              <a:t>/compact 压缩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74720" y="4297679"/>
            <a:ext cx="4572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FFFFFF"/>
                </a:solidFill>
              </a:defRPr>
            </a:pPr>
            <a:r>
              <a:t>定期压缩对话历史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0" y="4297679"/>
            <a:ext cx="32918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CC00"/>
                </a:solidFill>
              </a:defRPr>
            </a:pPr>
            <a:r>
              <a:t>保持上下文精简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120640"/>
            <a:ext cx="11277295" cy="822960"/>
          </a:xfrm>
          <a:prstGeom prst="rect">
            <a:avLst/>
          </a:prstGeom>
          <a:solidFill>
            <a:srgbClr val="323250"/>
          </a:solidFill>
          <a:ln>
            <a:solidFill>
              <a:srgbClr val="5050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5212079"/>
            <a:ext cx="27432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D4FF"/>
                </a:solidFill>
              </a:defRPr>
            </a:pPr>
            <a:r>
              <a:t>SKILL 化拆分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74720" y="5212079"/>
            <a:ext cx="4572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FFFFFF"/>
                </a:solidFill>
              </a:defRPr>
            </a:pPr>
            <a:r>
              <a:t>细粒度技能 + Reference 按需加载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0" y="5212079"/>
            <a:ext cx="32918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CC00"/>
                </a:solidFill>
              </a:defRPr>
            </a:pPr>
            <a:r>
              <a:t>精准 Token 消耗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00D4FF"/>
                </a:solidFill>
              </a:defRPr>
            </a:pPr>
            <a:r>
              <a:t>Skill 化 + 渐进式解析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772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888888"/>
                </a:solidFill>
              </a:defRPr>
            </a:pPr>
            <a:r>
              <a:t>核心思想：细粒度拆分降低复杂度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463040"/>
            <a:ext cx="5486400" cy="1828800"/>
          </a:xfrm>
          <a:prstGeom prst="roundRect">
            <a:avLst/>
          </a:prstGeom>
          <a:solidFill>
            <a:srgbClr val="501E1E"/>
          </a:solidFill>
          <a:ln>
            <a:solidFill>
              <a:srgbClr val="FF3B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45920"/>
            <a:ext cx="5120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3B30"/>
                </a:solidFill>
              </a:defRPr>
            </a:pPr>
            <a:r>
              <a:t>传统方式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51206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FFFFFF"/>
                </a:solidFill>
              </a:defRPr>
            </a:pPr>
            <a:r>
              <a:t>用户需求 → AI 理解全部项目</a:t>
            </a:r>
          </a:p>
          <a:p>
            <a:pPr>
              <a:defRPr sz="1200">
                <a:solidFill>
                  <a:srgbClr val="FFCC00"/>
                </a:solidFill>
              </a:defRPr>
            </a:pPr>
            <a:r>
              <a:t>↓ 高 Token 消耗、高错误率</a:t>
            </a:r>
          </a:p>
          <a:p>
            <a:pPr>
              <a:defRPr sz="1400">
                <a:solidFill>
                  <a:srgbClr val="FFFFFF"/>
                </a:solidFill>
              </a:defRPr>
            </a:pPr>
            <a:r>
              <a:t>生成代码 → 可能出错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48095" y="1463040"/>
            <a:ext cx="5486400" cy="1828800"/>
          </a:xfrm>
          <a:prstGeom prst="roundRect">
            <a:avLst/>
          </a:prstGeom>
          <a:solidFill>
            <a:srgbClr val="1E5032"/>
          </a:solidFill>
          <a:ln>
            <a:solidFill>
              <a:srgbClr val="34C7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30975" y="1645920"/>
            <a:ext cx="5120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34C759"/>
                </a:solidFill>
              </a:defRPr>
            </a:pPr>
            <a:r>
              <a:t>Skill 化方式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30975" y="2103120"/>
            <a:ext cx="51206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FFFFFF"/>
                </a:solidFill>
              </a:defRPr>
            </a:pPr>
            <a:r>
              <a:t>用户需求 → 匹配 Skill → 加载 Reference</a:t>
            </a:r>
          </a:p>
          <a:p>
            <a:pPr>
              <a:defRPr sz="1200">
                <a:solidFill>
                  <a:srgbClr val="FFCC00"/>
                </a:solidFill>
              </a:defRPr>
            </a:pPr>
            <a:r>
              <a:t>↓ 精准匹配、低 Token、高准确</a:t>
            </a:r>
          </a:p>
          <a:p>
            <a:pPr>
              <a:defRPr sz="1400">
                <a:solidFill>
                  <a:srgbClr val="FFFFFF"/>
                </a:solidFill>
              </a:defRPr>
            </a:pPr>
            <a:r>
              <a:t>生成代码 → 高准确率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566160"/>
            <a:ext cx="11277295" cy="2743200"/>
          </a:xfrm>
          <a:prstGeom prst="roundRect">
            <a:avLst/>
          </a:prstGeom>
          <a:solidFill>
            <a:srgbClr val="1E3246"/>
          </a:solidFill>
          <a:ln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749039"/>
            <a:ext cx="10881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D4FF"/>
                </a:solidFill>
              </a:defRPr>
            </a:pPr>
            <a:r>
              <a:t>Reference 示例: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20624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FFFFFF"/>
                </a:solidFill>
                <a:latin typeface="Consolas"/>
              </a:defRPr>
            </a:pPr>
            <a:r>
              <a:t>.claude/skills/</a:t>
            </a:r>
            <a:br/>
            <a:r>
              <a:t>├── openresty-lua-plugins/</a:t>
            </a:r>
            <a:br/>
            <a:r>
              <a:t>│   ├── SKILL.md              # 技能定义（按需加载）</a:t>
            </a:r>
            <a:br/>
            <a:r>
              <a:t>│   └── references/</a:t>
            </a:r>
            <a:br/>
            <a:r>
              <a:t>│       ├── http.md           # HTTP 插件模板</a:t>
            </a:r>
            <a:br/>
            <a:r>
              <a:t>│       └── stream.md         # TCP/UDP 插件模板</a:t>
            </a:r>
            <a:br/>
            <a:r>
              <a:t>├── fix-compile/</a:t>
            </a:r>
            <a:br/>
            <a:r>
              <a:t>│   └── SKILL.md              # 仅加载需要的修复规则</a:t>
            </a:r>
            <a:br/>
            <a:r>
              <a:t>└── fix-test/</a:t>
            </a:r>
            <a:br/>
            <a:r>
              <a:t>    └── SKILL.md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00D4FF"/>
                </a:solidFill>
              </a:defRPr>
            </a:pPr>
            <a:r>
              <a:t>E2E 流程打通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097280"/>
            <a:ext cx="11277295" cy="1645920"/>
          </a:xfrm>
          <a:prstGeom prst="roundRect">
            <a:avLst/>
          </a:prstGeom>
          <a:solidFill>
            <a:srgbClr val="1E3246"/>
          </a:solidFill>
          <a:ln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1828800" cy="731520"/>
          </a:xfrm>
          <a:prstGeom prst="round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1A1A2E"/>
                </a:solidFill>
              </a:defRPr>
            </a:pPr>
            <a:r>
              <a:t>sync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1760" y="1554480"/>
            <a:ext cx="274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CC00"/>
                </a:solidFill>
              </a:defRPr>
            </a:pPr>
            <a:r>
              <a:t>→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926080" y="1371600"/>
            <a:ext cx="1828800" cy="731520"/>
          </a:xfrm>
          <a:prstGeom prst="round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1A1A2E"/>
                </a:solidFill>
              </a:defRPr>
            </a:pPr>
            <a:r>
              <a:t>build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46320" y="1554480"/>
            <a:ext cx="274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CC00"/>
                </a:solidFill>
              </a:defRPr>
            </a:pPr>
            <a: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120640" y="1371600"/>
            <a:ext cx="1828800" cy="731520"/>
          </a:xfrm>
          <a:prstGeom prst="round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1A1A2E"/>
                </a:solidFill>
              </a:defRPr>
            </a:pPr>
            <a:r>
              <a:t>test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79" y="1554480"/>
            <a:ext cx="274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CC00"/>
                </a:solidFill>
              </a:defRPr>
            </a:pPr>
            <a: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0" y="1371600"/>
            <a:ext cx="1828800" cy="731520"/>
          </a:xfrm>
          <a:prstGeom prst="round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1A1A2E"/>
                </a:solidFill>
              </a:defRPr>
            </a:pPr>
            <a:r>
              <a:t>analyze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35440" y="1554480"/>
            <a:ext cx="274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FCC00"/>
                </a:solidFill>
              </a:defRPr>
            </a:pPr>
            <a: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509760" y="1371600"/>
            <a:ext cx="1828800" cy="731520"/>
          </a:xfrm>
          <a:prstGeom prst="round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1A1A2E"/>
                </a:solidFill>
              </a:defRPr>
            </a:pPr>
            <a:r>
              <a:t>fix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103120"/>
            <a:ext cx="10881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FFCC00"/>
                </a:solidFill>
              </a:defRPr>
            </a:pPr>
            <a:r>
              <a:t>/dev all 自动化流水线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2926080"/>
            <a:ext cx="11277295" cy="1828800"/>
          </a:xfrm>
          <a:prstGeom prst="roundRect">
            <a:avLst/>
          </a:prstGeom>
          <a:solidFill>
            <a:srgbClr val="1E3C32"/>
          </a:solidFill>
          <a:ln>
            <a:solidFill>
              <a:srgbClr val="34C7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3108960"/>
            <a:ext cx="10881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34C759"/>
                </a:solidFill>
              </a:defRPr>
            </a:pPr>
            <a:r>
              <a:t>失败时自动处理流程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3566160"/>
            <a:ext cx="1088136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FFFFFF"/>
                </a:solidFill>
              </a:defRPr>
            </a:pPr>
            <a:r>
              <a:t>1. 匹配 tools/fixers/*.yaml 预制规则</a:t>
            </a:r>
          </a:p>
          <a:p>
            <a:pPr>
              <a:defRPr sz="1400">
                <a:solidFill>
                  <a:srgbClr val="FFFFFF"/>
                </a:solidFill>
              </a:defRPr>
            </a:pPr>
            <a:r>
              <a:t>2. 输出结构化错误分析</a:t>
            </a:r>
          </a:p>
          <a:p>
            <a:pPr>
              <a:defRPr sz="1400">
                <a:solidFill>
                  <a:srgbClr val="FFFFFF"/>
                </a:solidFill>
              </a:defRPr>
            </a:pPr>
            <a:r>
              <a:t>3. 建议调用 /fix-compile | /fix-test | /fix-runtime</a:t>
            </a:r>
          </a:p>
          <a:p>
            <a:pPr>
              <a:defRPr sz="1400">
                <a:solidFill>
                  <a:srgbClr val="FFFFFF"/>
                </a:solidFill>
              </a:defRPr>
            </a:pPr>
            <a:r>
              <a:t>4. /fix-loop 自动迭代直到成功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937760"/>
            <a:ext cx="11277295" cy="1371600"/>
          </a:xfrm>
          <a:prstGeom prst="roundRect">
            <a:avLst/>
          </a:prstGeom>
          <a:solidFill>
            <a:srgbClr val="323250"/>
          </a:solidFill>
          <a:ln>
            <a:solidFill>
              <a:srgbClr val="FFC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5120640"/>
            <a:ext cx="10881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FCC00"/>
                </a:solidFill>
              </a:defRPr>
            </a:pPr>
            <a:r>
              <a:t>跨平台透明化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5486400"/>
            <a:ext cx="108813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FFFFFF"/>
                </a:solidFill>
              </a:defRPr>
            </a:pPr>
            <a:r>
              <a:t>Windows 本地 → SSH (paramiko) → Linux 远程执行 → 返回结果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00D4FF"/>
                </a:solidFill>
              </a:defRPr>
            </a:pPr>
            <a:r>
              <a:t>总结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11277295" cy="3200400"/>
          </a:xfrm>
          <a:prstGeom prst="roundRect">
            <a:avLst/>
          </a:prstGeom>
          <a:solidFill>
            <a:srgbClr val="1E3246"/>
          </a:solidFill>
          <a:ln>
            <a:solidFill>
              <a:srgbClr val="FFC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8813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FFFFFF"/>
                </a:solidFill>
              </a:defRPr>
            </a:pPr>
            <a:r>
              <a:t>本项目基于 Google Agent 白皮书的 Model-Tools-Orchestration-Knowledge 架构理念，</a:t>
            </a:r>
          </a:p>
          <a:p>
            <a:pPr>
              <a:defRPr sz="1600">
                <a:solidFill>
                  <a:srgbClr val="FFFFFF"/>
                </a:solidFill>
              </a:defRPr>
            </a:pPr>
            <a:r>
              <a:t>构建了一套"项目规范驱动 + 技能细粒度拆分 + 知识自动沉淀 + 端到端流水线"的 AI 辅助开发体系：</a:t>
            </a:r>
          </a:p>
          <a:p>
            <a:pPr>
              <a:defRPr sz="1600">
                <a:solidFill>
                  <a:srgbClr val="FFFFFF"/>
                </a:solidFill>
              </a:defRPr>
            </a:pPr>
          </a:p>
          <a:p>
            <a:pPr>
              <a:defRPr sz="1600">
                <a:solidFill>
                  <a:srgbClr val="00D4FF"/>
                </a:solidFill>
              </a:defRPr>
            </a:pPr>
            <a:r>
              <a:t>• 以 CLAUDE.md 作为认知入口让 AI 理解项目上下文</a:t>
            </a:r>
          </a:p>
          <a:p>
            <a:pPr>
              <a:defRPr sz="1600">
                <a:solidFill>
                  <a:srgbClr val="00D4FF"/>
                </a:solidFill>
              </a:defRPr>
            </a:pPr>
            <a:r>
              <a:t>• 以 Skills/ 按需加载 Reference 实现精准低耗调用</a:t>
            </a:r>
          </a:p>
          <a:p>
            <a:pPr>
              <a:defRPr sz="1600">
                <a:solidFill>
                  <a:srgbClr val="00D4FF"/>
                </a:solidFill>
              </a:defRPr>
            </a:pPr>
            <a:r>
              <a:t>• 以 Memory/ 持续积累开发知识形成闭环</a:t>
            </a:r>
          </a:p>
          <a:p>
            <a:pPr>
              <a:defRPr sz="1600">
                <a:solidFill>
                  <a:srgbClr val="00D4FF"/>
                </a:solidFill>
              </a:defRPr>
            </a:pPr>
            <a:r>
              <a:t>• 以 /dev all 串联 sync→build→test→fix 全流程自动化</a:t>
            </a:r>
          </a:p>
          <a:p>
            <a:pPr>
              <a:defRPr sz="1600">
                <a:solidFill>
                  <a:srgbClr val="FFFFFF"/>
                </a:solidFill>
              </a:defRPr>
            </a:pPr>
          </a:p>
          <a:p>
            <a:pPr>
              <a:defRPr sz="1600">
                <a:solidFill>
                  <a:srgbClr val="FFFFFF"/>
                </a:solidFill>
              </a:defRPr>
            </a:pPr>
            <a:r>
              <a:t>最终将传统 4-6 小时的开发周期压缩至 15-30 分钟，</a:t>
            </a:r>
          </a:p>
          <a:p>
            <a:pPr>
              <a:defRPr sz="1600">
                <a:solidFill>
                  <a:srgbClr val="FFFFFF"/>
                </a:solidFill>
              </a:defRPr>
            </a:pPr>
            <a:r>
              <a:t>实现了从"人驱动工具"到"Agent 驱动开发"的范式跃迁。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0" y="4846320"/>
            <a:ext cx="5790895" cy="1097280"/>
          </a:xfrm>
          <a:prstGeom prst="roundRect">
            <a:avLst/>
          </a:prstGeom>
          <a:solidFill>
            <a:srgbClr val="1E5032"/>
          </a:solidFill>
          <a:ln>
            <a:solidFill>
              <a:srgbClr val="34C7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0" y="5029200"/>
            <a:ext cx="57908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FFCC00"/>
                </a:solidFill>
              </a:defRPr>
            </a:pPr>
            <a:r>
              <a:t>效率提升: 8-16 倍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6000" b="1">
                <a:solidFill>
                  <a:srgbClr val="00D4FF"/>
                </a:solidFill>
              </a:defRPr>
            </a:pPr>
            <a: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4747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>
                <a:solidFill>
                  <a:srgbClr val="FFCC00"/>
                </a:solidFill>
              </a:defRPr>
            </a:pPr>
            <a:r>
              <a:t>Q &amp;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888888"/>
                </a:solidFill>
              </a:defRPr>
            </a:pPr>
            <a:r>
              <a:t>OpenResty Skills  |  Claude Code Agent  |  端到端自动化开发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303520"/>
            <a:ext cx="112772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646478"/>
                </a:solidFill>
              </a:defRPr>
            </a:pPr>
            <a:r>
              <a:t>演示: /openresty-lua-plugins → /dev all → /feedback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