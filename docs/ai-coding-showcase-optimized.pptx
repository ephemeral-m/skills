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AI Coding 探索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918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66666"/>
                </a:solidFill>
              </a:defRPr>
            </a:pPr>
            <a:r>
              <a:t>基于 Claude Code 的 Agent 开发实践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研发痛点问题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05840"/>
            <a:ext cx="8595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痛点 1: 上下文理解成本高</a:t>
            </a:r>
          </a:p>
          <a:p>
            <a:pPr lvl="1">
              <a:defRPr sz="1600" b="0">
                <a:solidFill>
                  <a:srgbClr val="333333"/>
                </a:solidFill>
              </a:defRPr>
            </a:pPr>
            <a:r>
              <a:t>每次对话需重新解释项目结构</a:t>
            </a:r>
          </a:p>
          <a:p>
            <a:pPr lvl="1">
              <a:defRPr sz="1600" b="0">
                <a:solidFill>
                  <a:srgbClr val="333333"/>
                </a:solidFill>
              </a:defRPr>
            </a:pPr>
            <a:r>
              <a:t>AI 缺乏项目知识积累机制</a:t>
            </a:r>
          </a:p>
          <a:p>
            <a:pPr>
              <a:defRPr sz="1800" b="1">
                <a:solidFill>
                  <a:srgbClr val="003366"/>
                </a:solidFill>
              </a:defRPr>
            </a:pPr>
            <a:r>
              <a:t>痛点 2: 开发流程碎片化</a:t>
            </a:r>
          </a:p>
          <a:p>
            <a:pPr lvl="1">
              <a:defRPr sz="1600" b="0">
                <a:solidFill>
                  <a:srgbClr val="333333"/>
                </a:solidFill>
              </a:defRPr>
            </a:pPr>
            <a:r>
              <a:t>构建/测试/部署需切换多个环境</a:t>
            </a:r>
          </a:p>
          <a:p>
            <a:pPr lvl="1">
              <a:defRPr sz="1600" b="0">
                <a:solidFill>
                  <a:srgbClr val="333333"/>
                </a:solidFill>
              </a:defRPr>
            </a:pPr>
            <a:r>
              <a:t>错误修复缺乏系统性方法</a:t>
            </a:r>
          </a:p>
          <a:p>
            <a:pPr lvl="1">
              <a:defRPr sz="1600" b="0">
                <a:solidFill>
                  <a:srgbClr val="333333"/>
                </a:solidFill>
              </a:defRPr>
            </a:pPr>
            <a:r>
              <a:t>跨平台开发 (Windows 编辑 + Linux 运行) 复杂</a:t>
            </a:r>
          </a:p>
          <a:p>
            <a:pPr>
              <a:defRPr sz="1800" b="1">
                <a:solidFill>
                  <a:srgbClr val="003366"/>
                </a:solidFill>
              </a:defRPr>
            </a:pPr>
            <a:r>
              <a:t>痛点 3: Token 成本指数级增长</a:t>
            </a:r>
          </a:p>
          <a:p>
            <a:pPr lvl="1">
              <a:defRPr sz="1600" b="0">
                <a:solidFill>
                  <a:srgbClr val="333333"/>
                </a:solidFill>
              </a:defRPr>
            </a:pPr>
            <a:r>
              <a:t>连续对话导致历史上下文堆积</a:t>
            </a:r>
          </a:p>
          <a:p>
            <a:pPr lvl="1">
              <a:defRPr sz="1600" b="0">
                <a:solidFill>
                  <a:srgbClr val="333333"/>
                </a:solidFill>
              </a:defRPr>
            </a:pPr>
            <a:r>
              <a:t>无效信息被重复加载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Google Agent 白皮书核心理念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05840"/>
            <a:ext cx="8595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Agent = Model + Tools + Orchestration + Knowledge</a:t>
            </a:r>
          </a:p>
          <a:p>
            <a:pPr>
              <a:defRPr sz="1800" b="0">
                <a:solidFill>
                  <a:srgbClr val="003366"/>
                </a:solidFill>
              </a:defRPr>
            </a:pPr>
          </a:p>
          <a:p>
            <a:pPr>
              <a:defRPr sz="1800" b="1">
                <a:solidFill>
                  <a:srgbClr val="003366"/>
                </a:solidFill>
              </a:defRPr>
            </a:pPr>
            <a:r>
              <a:t>Model (大模型)</a:t>
            </a:r>
          </a:p>
          <a:p>
            <a:pPr lvl="1">
              <a:defRPr sz="1600" b="0">
                <a:solidFill>
                  <a:srgbClr val="333333"/>
                </a:solidFill>
              </a:defRPr>
            </a:pPr>
            <a:r>
              <a:t>推理能力 | 语言理解 | 决策制定</a:t>
            </a:r>
          </a:p>
          <a:p>
            <a:pPr>
              <a:defRPr sz="1800" b="1">
                <a:solidFill>
                  <a:srgbClr val="003366"/>
                </a:solidFill>
              </a:defRPr>
            </a:pPr>
            <a:r>
              <a:t>Tools (工具集)</a:t>
            </a:r>
          </a:p>
          <a:p>
            <a:pPr lvl="1">
              <a:defRPr sz="1600" b="0">
                <a:solidFill>
                  <a:srgbClr val="333333"/>
                </a:solidFill>
              </a:defRPr>
            </a:pPr>
            <a:r>
              <a:t>文件操作 | 代码执行 | 网络请求</a:t>
            </a:r>
          </a:p>
          <a:p>
            <a:pPr>
              <a:defRPr sz="1800" b="1">
                <a:solidFill>
                  <a:srgbClr val="003366"/>
                </a:solidFill>
              </a:defRPr>
            </a:pPr>
            <a:r>
              <a:t>Orchestration (编排层)</a:t>
            </a:r>
          </a:p>
          <a:p>
            <a:pPr lvl="1">
              <a:defRPr sz="1600" b="0">
                <a:solidFill>
                  <a:srgbClr val="333333"/>
                </a:solidFill>
              </a:defRPr>
            </a:pPr>
            <a:r>
              <a:t>规划 | 推理 | 决策</a:t>
            </a:r>
          </a:p>
          <a:p>
            <a:pPr>
              <a:defRPr sz="1800" b="1">
                <a:solidFill>
                  <a:srgbClr val="003366"/>
                </a:solidFill>
              </a:defRPr>
            </a:pPr>
            <a:r>
              <a:t>Knowledge (知识库)</a:t>
            </a:r>
          </a:p>
          <a:p>
            <a:pPr lvl="1">
              <a:defRPr sz="1600" b="0">
                <a:solidFill>
                  <a:srgbClr val="333333"/>
                </a:solidFill>
              </a:defRPr>
            </a:pPr>
            <a:r>
              <a:t>项目记忆 | 最佳实践 | 错误修复</a:t>
            </a:r>
          </a:p>
          <a:p>
            <a:pPr>
              <a:defRPr sz="1800" b="0">
                <a:solidFill>
                  <a:srgbClr val="003366"/>
                </a:solidFill>
              </a:defRPr>
            </a:pPr>
          </a:p>
          <a:p>
            <a:pPr>
              <a:defRPr sz="1800" b="1">
                <a:solidFill>
                  <a:srgbClr val="003366"/>
                </a:solidFill>
              </a:defRPr>
            </a:pPr>
            <a:r>
              <a:t>工作循环: 感知 -&gt; 推理 -&gt; 行动 -&gt; 观察 -&gt; 循环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项目解决方案 - Skills 体系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05840"/>
            <a:ext cx="8595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CLAUDE.md (项目规范) -&gt; Orchestration</a:t>
            </a:r>
          </a:p>
          <a:p>
            <a:pPr lvl="1">
              <a:defRPr sz="1600" b="0">
                <a:solidFill>
                  <a:srgbClr val="333333"/>
                </a:solidFill>
              </a:defRPr>
            </a:pPr>
            <a:r>
              <a:t>结构说明、开发指南、模块介绍</a:t>
            </a:r>
          </a:p>
          <a:p>
            <a:pPr>
              <a:defRPr sz="1800" b="1">
                <a:solidFill>
                  <a:srgbClr val="003366"/>
                </a:solidFill>
              </a:defRPr>
            </a:pPr>
            <a:r>
              <a:t>Skills/ (技能定义) -&gt; Tools</a:t>
            </a:r>
          </a:p>
          <a:p>
            <a:pPr lvl="1">
              <a:defRPr sz="1600" b="0">
                <a:solidFill>
                  <a:srgbClr val="333333"/>
                </a:solidFill>
              </a:defRPr>
            </a:pPr>
            <a:r>
              <a:t>dev, fix-*, code-*, openresty-lua-plugins</a:t>
            </a:r>
          </a:p>
          <a:p>
            <a:pPr>
              <a:defRPr sz="1800" b="1">
                <a:solidFill>
                  <a:srgbClr val="003366"/>
                </a:solidFill>
              </a:defRPr>
            </a:pPr>
            <a:r>
              <a:t>Memory/ (知识积累) -&gt; Knowledge</a:t>
            </a:r>
          </a:p>
          <a:p>
            <a:pPr lvl="1">
              <a:defRPr sz="1600" b="0">
                <a:solidFill>
                  <a:srgbClr val="333333"/>
                </a:solidFill>
              </a:defRPr>
            </a:pPr>
            <a:r>
              <a:t>已解决问题、架构决策、最佳实践</a:t>
            </a:r>
          </a:p>
          <a:p>
            <a:pPr>
              <a:defRPr sz="1800" b="0">
                <a:solidFill>
                  <a:srgbClr val="003366"/>
                </a:solidFill>
              </a:defRPr>
            </a:pPr>
          </a:p>
          <a:p>
            <a:pPr>
              <a:defRPr sz="1800" b="1">
                <a:solidFill>
                  <a:srgbClr val="003366"/>
                </a:solidFill>
              </a:defRPr>
            </a:pPr>
            <a:r>
              <a:t>分类:</a:t>
            </a:r>
          </a:p>
          <a:p>
            <a:pPr lvl="1">
              <a:defRPr sz="1600" b="0">
                <a:solidFill>
                  <a:srgbClr val="333333"/>
                </a:solidFill>
              </a:defRPr>
            </a:pPr>
            <a:r>
              <a:t>核心开发: dev, openresty-lua-plugins, web-admin-frontend</a:t>
            </a:r>
          </a:p>
          <a:p>
            <a:pPr lvl="1">
              <a:defRPr sz="1600" b="0">
                <a:solidFill>
                  <a:srgbClr val="333333"/>
                </a:solidFill>
              </a:defRPr>
            </a:pPr>
            <a:r>
              <a:t>错误修复: fix-compile, fix-test, fix-runtime, fix-loop</a:t>
            </a:r>
          </a:p>
          <a:p>
            <a:pPr lvl="1">
              <a:defRPr sz="1600" b="0">
                <a:solidFill>
                  <a:srgbClr val="333333"/>
                </a:solidFill>
              </a:defRPr>
            </a:pPr>
            <a:r>
              <a:t>代码质量: code-review, code-reactor, feedback</a:t>
            </a:r>
          </a:p>
          <a:p>
            <a:pPr lvl="1">
              <a:defRPr sz="1600" b="0">
                <a:solidFill>
                  <a:srgbClr val="333333"/>
                </a:solidFill>
              </a:defRPr>
            </a:pPr>
            <a:r>
              <a:t>DevOps: jenkins-pipeline, monitor-observability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设计理念 1: 跨平台开发模式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05840"/>
            <a:ext cx="8595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Windows 本地开发 + Linux 远程运行</a:t>
            </a:r>
          </a:p>
          <a:p>
            <a:pPr>
              <a:defRPr sz="1800" b="0">
                <a:solidFill>
                  <a:srgbClr val="003366"/>
                </a:solidFill>
              </a:defRPr>
            </a:pPr>
          </a:p>
          <a:p>
            <a:pPr>
              <a:defRPr sz="1800" b="1">
                <a:solidFill>
                  <a:srgbClr val="003366"/>
                </a:solidFill>
              </a:defRPr>
            </a:pPr>
            <a:r>
              <a:t>Windows 本地环境:</a:t>
            </a:r>
          </a:p>
          <a:p>
            <a:pPr lvl="1">
              <a:defRPr sz="1600" b="0">
                <a:solidFill>
                  <a:srgbClr val="333333"/>
                </a:solidFill>
              </a:defRPr>
            </a:pPr>
            <a:r>
              <a:t>  - 代码编辑 (IDE/编辑器)</a:t>
            </a:r>
          </a:p>
          <a:p>
            <a:pPr lvl="1">
              <a:defRPr sz="1600" b="0">
                <a:solidFill>
                  <a:srgbClr val="333333"/>
                </a:solidFill>
              </a:defRPr>
            </a:pPr>
            <a:r>
              <a:t>  - Git 版本管理</a:t>
            </a:r>
          </a:p>
          <a:p>
            <a:pPr lvl="1">
              <a:defRPr sz="1600" b="0">
                <a:solidFill>
                  <a:srgbClr val="333333"/>
                </a:solidFill>
              </a:defRPr>
            </a:pPr>
            <a:r>
              <a:t>  - 通过 /dev CLI 控制远程</a:t>
            </a:r>
          </a:p>
          <a:p>
            <a:pPr>
              <a:defRPr sz="1800" b="0">
                <a:solidFill>
                  <a:srgbClr val="003366"/>
                </a:solidFill>
              </a:defRPr>
            </a:pPr>
          </a:p>
          <a:p>
            <a:pPr>
              <a:defRPr sz="1800" b="1">
                <a:solidFill>
                  <a:srgbClr val="003366"/>
                </a:solidFill>
              </a:defRPr>
            </a:pPr>
            <a:r>
              <a:t>Linux 远程环境:</a:t>
            </a:r>
          </a:p>
          <a:p>
            <a:pPr lvl="1">
              <a:defRPr sz="1600" b="0">
                <a:solidFill>
                  <a:srgbClr val="333333"/>
                </a:solidFill>
              </a:defRPr>
            </a:pPr>
            <a:r>
              <a:t>  - 所有 Shell 脚本实际执行</a:t>
            </a:r>
          </a:p>
          <a:p>
            <a:pPr lvl="1">
              <a:defRPr sz="1600" b="0">
                <a:solidFill>
                  <a:srgbClr val="333333"/>
                </a:solidFill>
              </a:defRPr>
            </a:pPr>
            <a:r>
              <a:t>  - OpenResty 构建/运行</a:t>
            </a:r>
          </a:p>
          <a:p>
            <a:pPr lvl="1">
              <a:defRPr sz="1600" b="0">
                <a:solidFill>
                  <a:srgbClr val="333333"/>
                </a:solidFill>
              </a:defRPr>
            </a:pPr>
            <a:r>
              <a:t>  - 测试/服务管理</a:t>
            </a:r>
          </a:p>
          <a:p>
            <a:pPr>
              <a:defRPr sz="1800" b="0">
                <a:solidFill>
                  <a:srgbClr val="003366"/>
                </a:solidFill>
              </a:defRPr>
            </a:pPr>
          </a:p>
          <a:p>
            <a:pPr>
              <a:defRPr sz="1800" b="1">
                <a:solidFill>
                  <a:srgbClr val="003366"/>
                </a:solidFill>
              </a:defRPr>
            </a:pPr>
            <a:r>
              <a:t>SSH (paramiko) 实现透明跨平台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设计理念 2: Hooks 安全机制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05840"/>
            <a:ext cx="8595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三层 Hook 架构: Pre -&gt; 执行 -&gt; Post -&gt; Audit</a:t>
            </a:r>
          </a:p>
          <a:p>
            <a:pPr>
              <a:defRPr sz="1800" b="0">
                <a:solidFill>
                  <a:srgbClr val="003366"/>
                </a:solidFill>
              </a:defRPr>
            </a:pPr>
          </a:p>
          <a:p>
            <a:pPr>
              <a:defRPr sz="1800" b="1">
                <a:solidFill>
                  <a:srgbClr val="003366"/>
                </a:solidFill>
              </a:defRPr>
            </a:pPr>
            <a:r>
              <a:t>PreToolUse.sh - 执行前检查:</a:t>
            </a:r>
          </a:p>
          <a:p>
            <a:pPr lvl="1">
              <a:defRPr sz="1600" b="0">
                <a:solidFill>
                  <a:srgbClr val="333333"/>
                </a:solidFill>
              </a:defRPr>
            </a:pPr>
            <a:r>
              <a:t>  - 危险命令拦截 (rm -rf /, dd, mkfs)</a:t>
            </a:r>
          </a:p>
          <a:p>
            <a:pPr lvl="1">
              <a:defRPr sz="1600" b="0">
                <a:solidFill>
                  <a:srgbClr val="333333"/>
                </a:solidFill>
              </a:defRPr>
            </a:pPr>
            <a:r>
              <a:t>  - Git 危险操作警告 (force push, reset --hard)</a:t>
            </a:r>
          </a:p>
          <a:p>
            <a:pPr lvl="1">
              <a:defRPr sz="1600" b="0">
                <a:solidFill>
                  <a:srgbClr val="333333"/>
                </a:solidFill>
              </a:defRPr>
            </a:pPr>
            <a:r>
              <a:t>  - 配置文件删除保护</a:t>
            </a:r>
          </a:p>
          <a:p>
            <a:pPr>
              <a:defRPr sz="1800" b="0">
                <a:solidFill>
                  <a:srgbClr val="003366"/>
                </a:solidFill>
              </a:defRPr>
            </a:pPr>
          </a:p>
          <a:p>
            <a:pPr>
              <a:defRPr sz="1800" b="1">
                <a:solidFill>
                  <a:srgbClr val="003366"/>
                </a:solidFill>
              </a:defRPr>
            </a:pPr>
            <a:r>
              <a:t>PostToolUse.sh - 执行后处理:</a:t>
            </a:r>
          </a:p>
          <a:p>
            <a:pPr lvl="1">
              <a:defRPr sz="1600" b="0">
                <a:solidFill>
                  <a:srgbClr val="333333"/>
                </a:solidFill>
              </a:defRPr>
            </a:pPr>
            <a:r>
              <a:t>  - 错误类型自动检测 (compile/test/runtime)</a:t>
            </a:r>
          </a:p>
          <a:p>
            <a:pPr lvl="1">
              <a:defRPr sz="1600" b="0">
                <a:solidFill>
                  <a:srgbClr val="333333"/>
                </a:solidFill>
              </a:defRPr>
            </a:pPr>
            <a:r>
              <a:t>  - 智能 Skill 建议 (/fix-compile, /fix-test)</a:t>
            </a:r>
          </a:p>
          <a:p>
            <a:pPr lvl="1">
              <a:defRPr sz="1600" b="0">
                <a:solidFill>
                  <a:srgbClr val="333333"/>
                </a:solidFill>
              </a:defRPr>
            </a:pPr>
            <a:r>
              <a:t>  - 失败状态持久化</a:t>
            </a:r>
          </a:p>
          <a:p>
            <a:pPr>
              <a:defRPr sz="1800" b="0">
                <a:solidFill>
                  <a:srgbClr val="003366"/>
                </a:solidFill>
              </a:defRPr>
            </a:pPr>
          </a:p>
          <a:p>
            <a:pPr>
              <a:defRPr sz="1800" b="1">
                <a:solidFill>
                  <a:srgbClr val="003366"/>
                </a:solidFill>
              </a:defRPr>
            </a:pPr>
            <a:r>
              <a:t>AuditLog.sh - 审计日志:</a:t>
            </a:r>
          </a:p>
          <a:p>
            <a:pPr lvl="1">
              <a:defRPr sz="1600" b="0">
                <a:solidFill>
                  <a:srgbClr val="333333"/>
                </a:solidFill>
              </a:defRPr>
            </a:pPr>
            <a:r>
              <a:t>  - JSONL 格式记录所有操作</a:t>
            </a:r>
          </a:p>
          <a:p>
            <a:pPr lvl="1">
              <a:defRPr sz="1600" b="0">
                <a:solidFill>
                  <a:srgbClr val="333333"/>
                </a:solidFill>
              </a:defRPr>
            </a:pPr>
            <a:r>
              <a:t>  - 支持回溯和分析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设计理念 3: 自动修复循环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05840"/>
            <a:ext cx="8595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/fix-loop 自动迭代修复</a:t>
            </a:r>
          </a:p>
          <a:p>
            <a:pPr>
              <a:defRPr sz="1800" b="0">
                <a:solidFill>
                  <a:srgbClr val="003366"/>
                </a:solidFill>
              </a:defRPr>
            </a:pPr>
          </a:p>
          <a:p>
            <a:pPr>
              <a:defRPr sz="1800" b="1">
                <a:solidFill>
                  <a:srgbClr val="003366"/>
                </a:solidFill>
              </a:defRPr>
            </a:pPr>
            <a:r>
              <a:t>执行流程:</a:t>
            </a:r>
          </a:p>
          <a:p>
            <a:pPr lvl="1">
              <a:defRPr sz="1600" b="0">
                <a:solidFill>
                  <a:srgbClr val="333333"/>
                </a:solidFill>
              </a:defRPr>
            </a:pPr>
            <a:r>
              <a:t>  执行命令 -&gt; 分析结果 -&gt; AI修复 -&gt; 重新执行 -&gt; 循环</a:t>
            </a:r>
          </a:p>
          <a:p>
            <a:pPr>
              <a:defRPr sz="1800" b="0">
                <a:solidFill>
                  <a:srgbClr val="003366"/>
                </a:solidFill>
              </a:defRPr>
            </a:pPr>
          </a:p>
          <a:p>
            <a:pPr>
              <a:defRPr sz="1800" b="1">
                <a:solidFill>
                  <a:srgbClr val="003366"/>
                </a:solidFill>
              </a:defRPr>
            </a:pPr>
            <a:r>
              <a:t>错误检测规则 (tools/fixers/*.yaml):</a:t>
            </a:r>
          </a:p>
          <a:p>
            <a:pPr lvl="1">
              <a:defRPr sz="1600" b="0">
                <a:solidFill>
                  <a:srgbClr val="333333"/>
                </a:solidFill>
              </a:defRPr>
            </a:pPr>
            <a:r>
              <a:t>  - compile/*.yaml: 编译错误规则</a:t>
            </a:r>
          </a:p>
          <a:p>
            <a:pPr lvl="1">
              <a:defRPr sz="1600" b="0">
                <a:solidFill>
                  <a:srgbClr val="333333"/>
                </a:solidFill>
              </a:defRPr>
            </a:pPr>
            <a:r>
              <a:t>  - runtime/*.yaml: 运行时错误规则</a:t>
            </a:r>
          </a:p>
          <a:p>
            <a:pPr lvl="1">
              <a:defRPr sz="1600" b="0">
                <a:solidFill>
                  <a:srgbClr val="333333"/>
                </a:solidFill>
              </a:defRPr>
            </a:pPr>
            <a:r>
              <a:t>  - test/*.yaml: 测试失败规则</a:t>
            </a:r>
          </a:p>
          <a:p>
            <a:pPr>
              <a:defRPr sz="1800" b="0">
                <a:solidFill>
                  <a:srgbClr val="003366"/>
                </a:solidFill>
              </a:defRPr>
            </a:pPr>
          </a:p>
          <a:p>
            <a:pPr>
              <a:defRPr sz="1800" b="1">
                <a:solidFill>
                  <a:srgbClr val="003366"/>
                </a:solidFill>
              </a:defRPr>
            </a:pPr>
            <a:r>
              <a:t>终止条件:</a:t>
            </a:r>
          </a:p>
          <a:p>
            <a:pPr lvl="1">
              <a:defRPr sz="1600" b="0">
                <a:solidFill>
                  <a:srgbClr val="333333"/>
                </a:solidFill>
              </a:defRPr>
            </a:pPr>
            <a:r>
              <a:t>  - 执行成功</a:t>
            </a:r>
          </a:p>
          <a:p>
            <a:pPr lvl="1">
              <a:defRPr sz="1600" b="0">
                <a:solidFill>
                  <a:srgbClr val="333333"/>
                </a:solidFill>
              </a:defRPr>
            </a:pPr>
            <a:r>
              <a:t>  - 达到最大循环次数 (默认 5 次)</a:t>
            </a:r>
          </a:p>
          <a:p>
            <a:pPr lvl="1">
              <a:defRPr sz="1600" b="0">
                <a:solidFill>
                  <a:srgbClr val="333333"/>
                </a:solidFill>
              </a:defRPr>
            </a:pPr>
            <a:r>
              <a:t>  - 无法识别的错误类型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设计理念 4: 反馈优化机制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05840"/>
            <a:ext cx="8595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/feedback 自动学习并更新知识库</a:t>
            </a:r>
          </a:p>
          <a:p>
            <a:pPr>
              <a:defRPr sz="1800" b="0">
                <a:solidFill>
                  <a:srgbClr val="003366"/>
                </a:solidFill>
              </a:defRPr>
            </a:pPr>
          </a:p>
          <a:p>
            <a:pPr>
              <a:defRPr sz="1800" b="1">
                <a:solidFill>
                  <a:srgbClr val="003366"/>
                </a:solidFill>
              </a:defRPr>
            </a:pPr>
            <a:r>
              <a:t>触发条件:</a:t>
            </a:r>
          </a:p>
          <a:p>
            <a:pPr lvl="1">
              <a:defRPr sz="1600" b="0">
                <a:solidFill>
                  <a:srgbClr val="333333"/>
                </a:solidFill>
              </a:defRPr>
            </a:pPr>
            <a:r>
              <a:t>  - 用户说 '记住这个'</a:t>
            </a:r>
          </a:p>
          <a:p>
            <a:pPr lvl="1">
              <a:defRPr sz="1600" b="0">
                <a:solidFill>
                  <a:srgbClr val="333333"/>
                </a:solidFill>
              </a:defRPr>
            </a:pPr>
            <a:r>
              <a:t>  - 修复重复出现的错误</a:t>
            </a:r>
          </a:p>
          <a:p>
            <a:pPr lvl="1">
              <a:defRPr sz="1600" b="0">
                <a:solidFill>
                  <a:srgbClr val="333333"/>
                </a:solidFill>
              </a:defRPr>
            </a:pPr>
            <a:r>
              <a:t>  - 发现新的最佳实践</a:t>
            </a:r>
          </a:p>
          <a:p>
            <a:pPr>
              <a:defRPr sz="1800" b="0">
                <a:solidFill>
                  <a:srgbClr val="003366"/>
                </a:solidFill>
              </a:defRPr>
            </a:pPr>
          </a:p>
          <a:p>
            <a:pPr>
              <a:defRPr sz="1800" b="1">
                <a:solidFill>
                  <a:srgbClr val="003366"/>
                </a:solidFill>
              </a:defRPr>
            </a:pPr>
            <a:r>
              <a:t>反馈目标:</a:t>
            </a:r>
          </a:p>
          <a:p>
            <a:pPr lvl="1">
              <a:defRPr sz="1600" b="0">
                <a:solidFill>
                  <a:srgbClr val="333333"/>
                </a:solidFill>
              </a:defRPr>
            </a:pPr>
            <a:r>
              <a:t>  - MEMORY.md: 会话记忆、临时发现</a:t>
            </a:r>
          </a:p>
          <a:p>
            <a:pPr lvl="1">
              <a:defRPr sz="1600" b="0">
                <a:solidFill>
                  <a:srgbClr val="333333"/>
                </a:solidFill>
              </a:defRPr>
            </a:pPr>
            <a:r>
              <a:t>  - SKILL 文件: 技能知识、修复规则</a:t>
            </a:r>
          </a:p>
          <a:p>
            <a:pPr lvl="1">
              <a:defRPr sz="1600" b="0">
                <a:solidFill>
                  <a:srgbClr val="333333"/>
                </a:solidFill>
              </a:defRPr>
            </a:pPr>
            <a:r>
              <a:t>  - CLAUDE.md: 项目规范、工作流程</a:t>
            </a:r>
          </a:p>
          <a:p>
            <a:pPr lvl="1">
              <a:defRPr sz="1600" b="0">
                <a:solidFill>
                  <a:srgbClr val="333333"/>
                </a:solidFill>
              </a:defRPr>
            </a:pPr>
            <a:r>
              <a:t>  - patterns.yaml: 可复用模式库</a:t>
            </a:r>
          </a:p>
          <a:p>
            <a:pPr>
              <a:defRPr sz="1800" b="0">
                <a:solidFill>
                  <a:srgbClr val="003366"/>
                </a:solidFill>
              </a:defRPr>
            </a:pPr>
          </a:p>
          <a:p>
            <a:pPr>
              <a:defRPr sz="1800" b="1">
                <a:solidFill>
                  <a:srgbClr val="003366"/>
                </a:solidFill>
              </a:defRPr>
            </a:pPr>
            <a:r>
              <a:t>形成持续优化的闭环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设计理念 5: Token 优化策略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05840"/>
            <a:ext cx="8595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核心思想: 细粒度拆分，按需加载</a:t>
            </a:r>
          </a:p>
          <a:p>
            <a:pPr>
              <a:defRPr sz="1800" b="0">
                <a:solidFill>
                  <a:srgbClr val="003366"/>
                </a:solidFill>
              </a:defRPr>
            </a:pPr>
          </a:p>
          <a:p>
            <a:pPr>
              <a:defRPr sz="1800" b="1">
                <a:solidFill>
                  <a:srgbClr val="003366"/>
                </a:solidFill>
              </a:defRPr>
            </a:pPr>
            <a:r>
              <a:t>.claudeignore - 忽略构建产物、依赖库、密钥</a:t>
            </a:r>
          </a:p>
          <a:p>
            <a:pPr lvl="1">
              <a:defRPr sz="1600" b="0">
                <a:solidFill>
                  <a:srgbClr val="333333"/>
                </a:solidFill>
              </a:defRPr>
            </a:pPr>
            <a:r>
              <a:t>  减少 40% 无效加载</a:t>
            </a:r>
          </a:p>
          <a:p>
            <a:pPr>
              <a:defRPr sz="1800" b="0">
                <a:solidFill>
                  <a:srgbClr val="003366"/>
                </a:solidFill>
              </a:defRPr>
            </a:pPr>
          </a:p>
          <a:p>
            <a:pPr>
              <a:defRPr sz="1800" b="1">
                <a:solidFill>
                  <a:srgbClr val="003366"/>
                </a:solidFill>
              </a:defRPr>
            </a:pPr>
            <a:r>
              <a:t>CLAUDE.md - 结构化项目介绍</a:t>
            </a:r>
          </a:p>
          <a:p>
            <a:pPr lvl="1">
              <a:defRPr sz="1600" b="0">
                <a:solidFill>
                  <a:srgbClr val="333333"/>
                </a:solidFill>
              </a:defRPr>
            </a:pPr>
            <a:r>
              <a:t>  避免重复理解项目上下文</a:t>
            </a:r>
          </a:p>
          <a:p>
            <a:pPr>
              <a:defRPr sz="1800" b="0">
                <a:solidFill>
                  <a:srgbClr val="003366"/>
                </a:solidFill>
              </a:defRPr>
            </a:pPr>
          </a:p>
          <a:p>
            <a:pPr>
              <a:defRPr sz="1800" b="1">
                <a:solidFill>
                  <a:srgbClr val="003366"/>
                </a:solidFill>
              </a:defRPr>
            </a:pPr>
            <a:r>
              <a:t>/clear - 模块切换时清理历史</a:t>
            </a:r>
          </a:p>
          <a:p>
            <a:pPr lvl="1">
              <a:defRPr sz="1600" b="0">
                <a:solidFill>
                  <a:srgbClr val="333333"/>
                </a:solidFill>
              </a:defRPr>
            </a:pPr>
            <a:r>
              <a:t>  阻断 Token 指数增长</a:t>
            </a:r>
          </a:p>
          <a:p>
            <a:pPr>
              <a:defRPr sz="1800" b="0">
                <a:solidFill>
                  <a:srgbClr val="003366"/>
                </a:solidFill>
              </a:defRPr>
            </a:pPr>
          </a:p>
          <a:p>
            <a:pPr>
              <a:defRPr sz="1800" b="1">
                <a:solidFill>
                  <a:srgbClr val="003366"/>
                </a:solidFill>
              </a:defRPr>
            </a:pPr>
            <a:r>
              <a:t>Skill Reference 按需加载:</a:t>
            </a:r>
          </a:p>
          <a:p>
            <a:pPr lvl="1">
              <a:defRPr sz="1600" b="0">
                <a:solidFill>
                  <a:srgbClr val="333333"/>
                </a:solidFill>
              </a:defRPr>
            </a:pPr>
            <a:r>
              <a:t>  SKILL.md (技能定义) 始终加载</a:t>
            </a:r>
          </a:p>
          <a:p>
            <a:pPr lvl="1">
              <a:defRPr sz="1600" b="0">
                <a:solidFill>
                  <a:srgbClr val="333333"/>
                </a:solidFill>
              </a:defRPr>
            </a:pPr>
            <a:r>
              <a:t>  references/*.md (详细文档) 按需加载</a:t>
            </a:r>
          </a:p>
          <a:p>
            <a:pPr lvl="1">
              <a:defRPr sz="1600" b="0">
                <a:solidFill>
                  <a:srgbClr val="333333"/>
                </a:solidFill>
              </a:defRPr>
            </a:pPr>
            <a:r>
              <a:t>  实现零 Token 消耗执行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端到端开发流程对比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993333"/>
                </a:solidFill>
              </a:defRPr>
            </a:pPr>
            <a:r>
              <a:t>传统方式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03366"/>
                </a:solidFill>
              </a:defRPr>
            </a:pPr>
            <a:r>
              <a:t>[查阅文档] 2-3 小时</a:t>
            </a:r>
          </a:p>
          <a:p>
            <a:pPr>
              <a:defRPr sz="1800" b="0">
                <a:solidFill>
                  <a:srgbClr val="003366"/>
                </a:solidFill>
              </a:defRPr>
            </a:pPr>
            <a:r>
              <a:t>[编写代码] 1-2 小时</a:t>
            </a:r>
          </a:p>
          <a:p>
            <a:pPr>
              <a:defRPr sz="1800" b="0">
                <a:solidFill>
                  <a:srgbClr val="003366"/>
                </a:solidFill>
              </a:defRPr>
            </a:pPr>
            <a:r>
              <a:t>[本地编译] 30 分钟</a:t>
            </a:r>
          </a:p>
          <a:p>
            <a:pPr>
              <a:defRPr sz="1800" b="0">
                <a:solidFill>
                  <a:srgbClr val="003366"/>
                </a:solidFill>
              </a:defRPr>
            </a:pPr>
            <a:r>
              <a:t>[发现问题] 不确定</a:t>
            </a:r>
          </a:p>
          <a:p>
            <a:pPr>
              <a:defRPr sz="1800" b="0">
                <a:solidFill>
                  <a:srgbClr val="003366"/>
                </a:solidFill>
              </a:defRPr>
            </a:pPr>
          </a:p>
          <a:p>
            <a:pPr>
              <a:defRPr sz="1800" b="1">
                <a:solidFill>
                  <a:srgbClr val="003366"/>
                </a:solidFill>
              </a:defRPr>
            </a:pPr>
            <a:r>
              <a:t>总计: 4-6 小时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9144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633"/>
                </a:solidFill>
              </a:defRPr>
            </a:pPr>
            <a:r>
              <a:t>Agent 辅助方式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37160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03366"/>
                </a:solidFill>
              </a:defRPr>
            </a:pPr>
            <a:r>
              <a:t>/openresty-lua-plugins 5 分钟</a:t>
            </a:r>
          </a:p>
          <a:p>
            <a:pPr>
              <a:defRPr sz="1800" b="0">
                <a:solidFill>
                  <a:srgbClr val="003366"/>
                </a:solidFill>
              </a:defRPr>
            </a:pPr>
            <a:r>
              <a:t>/dev all (sync-&gt;build-&gt;test) 10 分钟</a:t>
            </a:r>
          </a:p>
          <a:p>
            <a:pPr>
              <a:defRPr sz="1800" b="0">
                <a:solidFill>
                  <a:srgbClr val="003366"/>
                </a:solidFill>
              </a:defRPr>
            </a:pPr>
            <a:r>
              <a:t>/fix-* (自动修复，如需要)</a:t>
            </a:r>
          </a:p>
          <a:p>
            <a:pPr>
              <a:defRPr sz="1800" b="0">
                <a:solidFill>
                  <a:srgbClr val="003366"/>
                </a:solidFill>
              </a:defRPr>
            </a:pPr>
          </a:p>
          <a:p>
            <a:pPr>
              <a:defRPr sz="1800" b="1">
                <a:solidFill>
                  <a:srgbClr val="003366"/>
                </a:solidFill>
              </a:defRPr>
            </a:pPr>
            <a:r>
              <a:t>总计: 15-30 分钟</a:t>
            </a:r>
          </a:p>
          <a:p>
            <a:pPr>
              <a:defRPr sz="1800" b="0">
                <a:solidFill>
                  <a:srgbClr val="003366"/>
                </a:solidFill>
              </a:defRPr>
            </a:pPr>
          </a:p>
          <a:p>
            <a:pPr>
              <a:defRPr sz="1800" b="1">
                <a:solidFill>
                  <a:srgbClr val="003366"/>
                </a:solidFill>
              </a:defRPr>
            </a:pPr>
            <a:r>
              <a:t>效率提升: 8-16 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/dev 统一命令入口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05840"/>
            <a:ext cx="8595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零 Token 消耗执行工程任务</a:t>
            </a:r>
          </a:p>
          <a:p>
            <a:pPr>
              <a:defRPr sz="1800" b="0">
                <a:solidFill>
                  <a:srgbClr val="003366"/>
                </a:solidFill>
              </a:defRPr>
            </a:pPr>
          </a:p>
          <a:p>
            <a:pPr lvl="1">
              <a:defRPr sz="1600" b="0">
                <a:solidFill>
                  <a:srgbClr val="333333"/>
                </a:solidFill>
              </a:defRPr>
            </a:pPr>
            <a:r>
              <a:t>/dev all [module]      # 完整流水线 (sync -&gt; build -&gt; start -&gt; test)</a:t>
            </a:r>
          </a:p>
          <a:p>
            <a:pPr lvl="1">
              <a:defRPr sz="1600" b="0">
                <a:solidFill>
                  <a:srgbClr val="333333"/>
                </a:solidFill>
              </a:defRPr>
            </a:pPr>
            <a:r>
              <a:t>/dev build [module]    # 编译指定模块或全部</a:t>
            </a:r>
          </a:p>
          <a:p>
            <a:pPr lvl="1">
              <a:defRPr sz="1600" b="0">
                <a:solidFill>
                  <a:srgbClr val="333333"/>
                </a:solidFill>
              </a:defRPr>
            </a:pPr>
            <a:r>
              <a:t>/dev test [module]     # 测试指定模块或全部</a:t>
            </a:r>
          </a:p>
          <a:p>
            <a:pPr lvl="1">
              <a:defRPr sz="1600" b="0">
                <a:solidFill>
                  <a:srgbClr val="333333"/>
                </a:solidFill>
              </a:defRPr>
            </a:pPr>
            <a:r>
              <a:t>/dev test --dt [file]  # 运行 Test::Nginx 测试用例</a:t>
            </a:r>
          </a:p>
          <a:p>
            <a:pPr lvl="1">
              <a:defRPr sz="1600" b="0">
                <a:solidFill>
                  <a:srgbClr val="333333"/>
                </a:solidFill>
              </a:defRPr>
            </a:pPr>
            <a:r>
              <a:t>/dev start             # 启动服务（远程）</a:t>
            </a:r>
          </a:p>
          <a:p>
            <a:pPr lvl="1">
              <a:defRPr sz="1600" b="0">
                <a:solidFill>
                  <a:srgbClr val="333333"/>
                </a:solidFill>
              </a:defRPr>
            </a:pPr>
            <a:r>
              <a:t>/dev stop              # 停止服务（远程）</a:t>
            </a:r>
          </a:p>
          <a:p>
            <a:pPr lvl="1">
              <a:defRPr sz="1600" b="0">
                <a:solidFill>
                  <a:srgbClr val="333333"/>
                </a:solidFill>
              </a:defRPr>
            </a:pPr>
            <a:r>
              <a:t>/dev sync              # 同步代码到远程服务器</a:t>
            </a:r>
          </a:p>
          <a:p>
            <a:pPr lvl="1">
              <a:defRPr sz="1600" b="0">
                <a:solidFill>
                  <a:srgbClr val="333333"/>
                </a:solidFill>
              </a:defRPr>
            </a:pPr>
            <a:r>
              <a:t>/dev status            # 查看项目状态</a:t>
            </a:r>
          </a:p>
          <a:p>
            <a:pPr lvl="1">
              <a:defRPr sz="1600" b="0">
                <a:solidFill>
                  <a:srgbClr val="333333"/>
                </a:solidFill>
              </a:defRPr>
            </a:pPr>
            <a:r>
              <a:t>/dev analyze &lt;type&gt;    # 分析错误输出</a:t>
            </a:r>
          </a:p>
          <a:p>
            <a:pPr>
              <a:defRPr sz="1800" b="0">
                <a:solidFill>
                  <a:srgbClr val="003366"/>
                </a:solidFill>
              </a:defRPr>
            </a:pPr>
          </a:p>
          <a:p>
            <a:pPr>
              <a:defRPr sz="1800" b="1">
                <a:solidFill>
                  <a:srgbClr val="003366"/>
                </a:solidFill>
              </a:defRPr>
            </a:pPr>
            <a:r>
              <a:t>失败时自动建议修复 Skill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Skill 示例: openresty-lua-plugins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05840"/>
            <a:ext cx="8595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一键生成完整的 OpenResty Lua 插件</a:t>
            </a:r>
          </a:p>
          <a:p>
            <a:pPr>
              <a:defRPr sz="1800" b="0">
                <a:solidFill>
                  <a:srgbClr val="003366"/>
                </a:solidFill>
              </a:defRPr>
            </a:pPr>
          </a:p>
          <a:p>
            <a:pPr>
              <a:defRPr sz="1800" b="1">
                <a:solidFill>
                  <a:srgbClr val="003366"/>
                </a:solidFill>
              </a:defRPr>
            </a:pPr>
            <a:r>
              <a:t>设计原则:</a:t>
            </a:r>
          </a:p>
          <a:p>
            <a:pPr lvl="1">
              <a:defRPr sz="1600" b="0">
                <a:solidFill>
                  <a:srgbClr val="333333"/>
                </a:solidFill>
              </a:defRPr>
            </a:pPr>
            <a:r>
              <a:t>  1. 优先使用 Nginx 原生配置 (proxy_pass, upstream, limit_req)</a:t>
            </a:r>
          </a:p>
          <a:p>
            <a:pPr lvl="1">
              <a:defRPr sz="1600" b="0">
                <a:solidFill>
                  <a:srgbClr val="333333"/>
                </a:solidFill>
              </a:defRPr>
            </a:pPr>
            <a:r>
              <a:t>  2. 禁止高风险行为 (阻塞 I/O, 全局变量, 无限循环)</a:t>
            </a:r>
          </a:p>
          <a:p>
            <a:pPr lvl="1">
              <a:defRPr sz="1600" b="0">
                <a:solidFill>
                  <a:srgbClr val="333333"/>
                </a:solidFill>
              </a:defRPr>
            </a:pPr>
            <a:r>
              <a:t>  3. 使用非阻塞 API (ngx.socket, ngx.shared.DICT)</a:t>
            </a:r>
          </a:p>
          <a:p>
            <a:pPr>
              <a:defRPr sz="1800" b="0">
                <a:solidFill>
                  <a:srgbClr val="003366"/>
                </a:solidFill>
              </a:defRPr>
            </a:pPr>
          </a:p>
          <a:p>
            <a:pPr>
              <a:defRPr sz="1800" b="1">
                <a:solidFill>
                  <a:srgbClr val="003366"/>
                </a:solidFill>
              </a:defRPr>
            </a:pPr>
            <a:r>
              <a:t>生成产物:</a:t>
            </a:r>
          </a:p>
          <a:p>
            <a:pPr lvl="1">
              <a:defRPr sz="1600" b="0">
                <a:solidFill>
                  <a:srgbClr val="333333"/>
                </a:solidFill>
              </a:defRPr>
            </a:pPr>
            <a:r>
              <a:t>  - plugins/{name}/{name}.lua    # 插件主文件</a:t>
            </a:r>
          </a:p>
          <a:p>
            <a:pPr lvl="1">
              <a:defRPr sz="1600" b="0">
                <a:solidFill>
                  <a:srgbClr val="333333"/>
                </a:solidFill>
              </a:defRPr>
            </a:pPr>
            <a:r>
              <a:t>  - plugins/{name}/README.md     # 插件文档</a:t>
            </a:r>
          </a:p>
          <a:p>
            <a:pPr lvl="1">
              <a:defRPr sz="1600" b="0">
                <a:solidFill>
                  <a:srgbClr val="333333"/>
                </a:solidFill>
              </a:defRPr>
            </a:pPr>
            <a:r>
              <a:t>  - plugins/{name}/nginx.conf.example  # 示例配置</a:t>
            </a:r>
          </a:p>
          <a:p>
            <a:pPr lvl="1">
              <a:defRPr sz="1600" b="0">
                <a:solidFill>
                  <a:srgbClr val="333333"/>
                </a:solidFill>
              </a:defRPr>
            </a:pPr>
            <a:r>
              <a:t>  - test/dt/{name}/basic.t       # DT 测试用例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整体架构图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05840"/>
            <a:ext cx="8595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03366"/>
                </a:solidFill>
              </a:defRPr>
            </a:pPr>
            <a:r>
              <a:t>┌─────────────────────────────────────────────────────────────┐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defRPr sz="1800" b="1">
                <a:solidFill>
                  <a:srgbClr val="003366"/>
                </a:solidFill>
              </a:defRPr>
            </a:pPr>
            <a:r>
              <a:t>│                    Claude Code Agent                        │</a:t>
            </a:r>
          </a:p>
          <a:p>
            <a:pPr>
              <a:defRPr sz="1800" b="0">
                <a:solidFill>
                  <a:srgbClr val="003366"/>
                </a:solidFill>
              </a:defRPr>
            </a:pPr>
            <a:r>
              <a:t>├─────────────────────────────────────────────────────────────┤</a:t>
            </a:r>
          </a:p>
          <a:p>
            <a:pPr>
              <a:defRPr sz="1800" b="0">
                <a:solidFill>
                  <a:srgbClr val="003366"/>
                </a:solidFill>
              </a:defRPr>
            </a:pPr>
            <a:r>
              <a:t>│  CLAUDE.md          Memory/            Skills/              │</a:t>
            </a:r>
          </a:p>
          <a:p>
            <a:pPr>
              <a:defRPr sz="1800" b="0">
                <a:solidFill>
                  <a:srgbClr val="003366"/>
                </a:solidFill>
              </a:defRPr>
            </a:pPr>
            <a:r>
              <a:t>│  (项目规范)          (知识积累)         (技能定义)            │</a:t>
            </a:r>
          </a:p>
          <a:p>
            <a:pPr>
              <a:defRPr sz="1800" b="0">
                <a:solidFill>
                  <a:srgbClr val="003366"/>
                </a:solidFill>
              </a:defRPr>
            </a:pPr>
            <a:r>
              <a:t>├─────────────────────────────────────────────────────────────┤</a:t>
            </a:r>
          </a:p>
          <a:p>
            <a:pPr>
              <a:defRPr sz="1800" b="1">
                <a:solidFill>
                  <a:srgbClr val="003366"/>
                </a:solidFill>
              </a:defRPr>
            </a:pPr>
            <a:r>
              <a:t>│                    Hooks 安全层                              │</a:t>
            </a:r>
          </a:p>
          <a:p>
            <a:pPr>
              <a:defRPr sz="1800" b="0">
                <a:solidFill>
                  <a:srgbClr val="003366"/>
                </a:solidFill>
              </a:defRPr>
            </a:pPr>
            <a:r>
              <a:t>│  PreToolUse -&gt; [执行] -&gt; PostToolUse -&gt; AuditLog             │</a:t>
            </a:r>
          </a:p>
          <a:p>
            <a:pPr>
              <a:defRPr sz="1800" b="0">
                <a:solidFill>
                  <a:srgbClr val="003366"/>
                </a:solidFill>
              </a:defRPr>
            </a:pPr>
            <a:r>
              <a:t>├─────────────────────────────────────────────────────────────┤</a:t>
            </a:r>
          </a:p>
          <a:p>
            <a:pPr>
              <a:defRPr sz="1800" b="0">
                <a:solidFill>
                  <a:srgbClr val="003366"/>
                </a:solidFill>
              </a:defRPr>
            </a:pPr>
            <a:r>
              <a:t>│  /dev CLI          /fix-*            /feedback              │</a:t>
            </a:r>
          </a:p>
          <a:p>
            <a:pPr>
              <a:defRPr sz="1800" b="0">
                <a:solidFill>
                  <a:srgbClr val="003366"/>
                </a:solidFill>
              </a:defRPr>
            </a:pPr>
            <a:r>
              <a:t>│  (统一入口)         (自动修复)         (反馈优化)             │</a:t>
            </a:r>
          </a:p>
          <a:p>
            <a:pPr>
              <a:defRPr sz="1800" b="0">
                <a:solidFill>
                  <a:srgbClr val="003366"/>
                </a:solidFill>
              </a:defRPr>
            </a:pPr>
            <a:r>
              <a:t>├─────────────────────────────────────────────────────────────┤</a:t>
            </a:r>
          </a:p>
          <a:p>
            <a:pPr>
              <a:defRPr sz="1800" b="1">
                <a:solidFill>
                  <a:srgbClr val="003366"/>
                </a:solidFill>
              </a:defRPr>
            </a:pPr>
            <a:r>
              <a:t>│               SSH (paramiko) 跨平台桥接                       │</a:t>
            </a:r>
          </a:p>
          <a:p>
            <a:pPr>
              <a:defRPr sz="1800" b="0">
                <a:solidFill>
                  <a:srgbClr val="003366"/>
                </a:solidFill>
              </a:defRPr>
            </a:pPr>
            <a:r>
              <a:t>├─────────────────────────────────────────────────────────────┤</a:t>
            </a:r>
          </a:p>
          <a:p>
            <a:pPr>
              <a:defRPr sz="1800" b="0">
                <a:solidFill>
                  <a:srgbClr val="003366"/>
                </a:solidFill>
              </a:defRPr>
            </a:pPr>
            <a:r>
              <a:t>│  Windows 本地                          Linux 远程            │</a:t>
            </a:r>
          </a:p>
          <a:p>
            <a:pPr>
              <a:defRPr sz="1800" b="0">
                <a:solidFill>
                  <a:srgbClr val="003366"/>
                </a:solidFill>
              </a:defRPr>
            </a:pPr>
            <a:r>
              <a:t>│  - 代码编辑                            - Shell 执行          │</a:t>
            </a:r>
          </a:p>
          <a:p>
            <a:pPr>
              <a:defRPr sz="1800" b="0">
                <a:solidFill>
                  <a:srgbClr val="003366"/>
                </a:solidFill>
              </a:defRPr>
            </a:pPr>
            <a:r>
              <a:t>│  - Git 管理                            - OpenResty 运行      │</a:t>
            </a:r>
          </a:p>
          <a:p>
            <a:pPr>
              <a:defRPr sz="1800" b="0">
                <a:solidFill>
                  <a:srgbClr val="003366"/>
                </a:solidFill>
              </a:defRPr>
            </a:pPr>
            <a:r>
              <a:t>└─────────────────────────────────────────────────────────────┘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总结: 五大设计理念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05840"/>
            <a:ext cx="8595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1. 跨平台开发模式</a:t>
            </a:r>
          </a:p>
          <a:p>
            <a:pPr lvl="1">
              <a:defRPr sz="1600" b="0">
                <a:solidFill>
                  <a:srgbClr val="333333"/>
                </a:solidFill>
              </a:defRPr>
            </a:pPr>
            <a:r>
              <a:t>   Windows 开发 + Linux 远程运行，SSH 透明桥接</a:t>
            </a:r>
          </a:p>
          <a:p>
            <a:pPr>
              <a:defRPr sz="1800" b="0">
                <a:solidFill>
                  <a:srgbClr val="003366"/>
                </a:solidFill>
              </a:defRPr>
            </a:pPr>
          </a:p>
          <a:p>
            <a:pPr>
              <a:defRPr sz="1800" b="1">
                <a:solidFill>
                  <a:srgbClr val="003366"/>
                </a:solidFill>
              </a:defRPr>
            </a:pPr>
            <a:r>
              <a:t>2. Hooks 安全机制</a:t>
            </a:r>
          </a:p>
          <a:p>
            <a:pPr lvl="1">
              <a:defRPr sz="1600" b="0">
                <a:solidFill>
                  <a:srgbClr val="333333"/>
                </a:solidFill>
              </a:defRPr>
            </a:pPr>
            <a:r>
              <a:t>   Pre/Post/Audit 三层防护，智能错误检测和建议</a:t>
            </a:r>
          </a:p>
          <a:p>
            <a:pPr>
              <a:defRPr sz="1800" b="0">
                <a:solidFill>
                  <a:srgbClr val="003366"/>
                </a:solidFill>
              </a:defRPr>
            </a:pPr>
          </a:p>
          <a:p>
            <a:pPr>
              <a:defRPr sz="1800" b="1">
                <a:solidFill>
                  <a:srgbClr val="003366"/>
                </a:solidFill>
              </a:defRPr>
            </a:pPr>
            <a:r>
              <a:t>3. 自动修复循环</a:t>
            </a:r>
          </a:p>
          <a:p>
            <a:pPr lvl="1">
              <a:defRPr sz="1600" b="0">
                <a:solidFill>
                  <a:srgbClr val="333333"/>
                </a:solidFill>
              </a:defRPr>
            </a:pPr>
            <a:r>
              <a:t>   /fix-loop 迭代修复，YAML 规则匹配错误类型</a:t>
            </a:r>
          </a:p>
          <a:p>
            <a:pPr>
              <a:defRPr sz="1800" b="0">
                <a:solidFill>
                  <a:srgbClr val="003366"/>
                </a:solidFill>
              </a:defRPr>
            </a:pPr>
          </a:p>
          <a:p>
            <a:pPr>
              <a:defRPr sz="1800" b="1">
                <a:solidFill>
                  <a:srgbClr val="003366"/>
                </a:solidFill>
              </a:defRPr>
            </a:pPr>
            <a:r>
              <a:t>4. 反馈优化机制</a:t>
            </a:r>
          </a:p>
          <a:p>
            <a:pPr lvl="1">
              <a:defRPr sz="1600" b="0">
                <a:solidFill>
                  <a:srgbClr val="333333"/>
                </a:solidFill>
              </a:defRPr>
            </a:pPr>
            <a:r>
              <a:t>   /feedback 持续学习，更新知识库形成闭环</a:t>
            </a:r>
          </a:p>
          <a:p>
            <a:pPr>
              <a:defRPr sz="1800" b="0">
                <a:solidFill>
                  <a:srgbClr val="003366"/>
                </a:solidFill>
              </a:defRPr>
            </a:pPr>
          </a:p>
          <a:p>
            <a:pPr>
              <a:defRPr sz="1800" b="1">
                <a:solidFill>
                  <a:srgbClr val="003366"/>
                </a:solidFill>
              </a:defRPr>
            </a:pPr>
            <a:r>
              <a:t>5. Token 优化策略</a:t>
            </a:r>
          </a:p>
          <a:p>
            <a:pPr lvl="1">
              <a:defRPr sz="1600" b="0">
                <a:solidFill>
                  <a:srgbClr val="333333"/>
                </a:solidFill>
              </a:defRPr>
            </a:pPr>
            <a:r>
              <a:t>   渐进式加载、Reference 按需读取、零消耗执行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实施效果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05840"/>
            <a:ext cx="8595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开发效率提升</a:t>
            </a:r>
          </a:p>
          <a:p>
            <a:pPr lvl="1">
              <a:defRPr sz="1600" b="0">
                <a:solidFill>
                  <a:srgbClr val="333333"/>
                </a:solidFill>
              </a:defRPr>
            </a:pPr>
            <a:r>
              <a:t>  传统 4-6 小时 -&gt; Agent 辅助 15-30 分钟</a:t>
            </a:r>
          </a:p>
          <a:p>
            <a:pPr lvl="1">
              <a:defRPr sz="1600" b="0">
                <a:solidFill>
                  <a:srgbClr val="333333"/>
                </a:solidFill>
              </a:defRPr>
            </a:pPr>
            <a:r>
              <a:t>  效率提升: 8-16 倍</a:t>
            </a:r>
          </a:p>
          <a:p>
            <a:pPr>
              <a:defRPr sz="1800" b="0">
                <a:solidFill>
                  <a:srgbClr val="003366"/>
                </a:solidFill>
              </a:defRPr>
            </a:pPr>
          </a:p>
          <a:p>
            <a:pPr>
              <a:defRPr sz="1800" b="1">
                <a:solidFill>
                  <a:srgbClr val="003366"/>
                </a:solidFill>
              </a:defRPr>
            </a:pPr>
            <a:r>
              <a:t>Token 成本降低</a:t>
            </a:r>
          </a:p>
          <a:p>
            <a:pPr lvl="1">
              <a:defRPr sz="1600" b="0">
                <a:solidFill>
                  <a:srgbClr val="333333"/>
                </a:solidFill>
              </a:defRPr>
            </a:pPr>
            <a:r>
              <a:t>  .claudeignore 减少 40% 无效加载</a:t>
            </a:r>
          </a:p>
          <a:p>
            <a:pPr lvl="1">
              <a:defRPr sz="1600" b="0">
                <a:solidFill>
                  <a:srgbClr val="333333"/>
                </a:solidFill>
              </a:defRPr>
            </a:pPr>
            <a:r>
              <a:t>  Reference 按需加载避免冗余</a:t>
            </a:r>
          </a:p>
          <a:p>
            <a:pPr>
              <a:defRPr sz="1800" b="0">
                <a:solidFill>
                  <a:srgbClr val="003366"/>
                </a:solidFill>
              </a:defRPr>
            </a:pPr>
          </a:p>
          <a:p>
            <a:pPr>
              <a:defRPr sz="1800" b="1">
                <a:solidFill>
                  <a:srgbClr val="003366"/>
                </a:solidFill>
              </a:defRPr>
            </a:pPr>
            <a:r>
              <a:t>开发体验改善</a:t>
            </a:r>
          </a:p>
          <a:p>
            <a:pPr lvl="1">
              <a:defRPr sz="1600" b="0">
                <a:solidFill>
                  <a:srgbClr val="333333"/>
                </a:solidFill>
              </a:defRPr>
            </a:pPr>
            <a:r>
              <a:t>  一键端到端: /dev all</a:t>
            </a:r>
          </a:p>
          <a:p>
            <a:pPr lvl="1">
              <a:defRPr sz="1600" b="0">
                <a:solidFill>
                  <a:srgbClr val="333333"/>
                </a:solidFill>
              </a:defRPr>
            </a:pPr>
            <a:r>
              <a:t>  自动修复: /fix-loop</a:t>
            </a:r>
          </a:p>
          <a:p>
            <a:pPr lvl="1">
              <a:defRPr sz="1600" b="0">
                <a:solidFill>
                  <a:srgbClr val="333333"/>
                </a:solidFill>
              </a:defRPr>
            </a:pPr>
            <a:r>
              <a:t>  知识积累: /feedback</a:t>
            </a:r>
          </a:p>
          <a:p>
            <a:pPr>
              <a:defRPr sz="1800" b="0">
                <a:solidFill>
                  <a:srgbClr val="003366"/>
                </a:solidFill>
              </a:defRPr>
            </a:pPr>
          </a:p>
          <a:p>
            <a:pPr>
              <a:defRPr sz="1800" b="1">
                <a:solidFill>
                  <a:srgbClr val="003366"/>
                </a:solidFill>
              </a:defRPr>
            </a:pPr>
            <a:r>
              <a:t>范式跃迁: 人驱动工具 -&gt; Agent 驱动开发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918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66666"/>
                </a:solidFill>
              </a:defRPr>
            </a:pPr>
            <a:r>
              <a:t>Q &amp;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66666"/>
                </a:solidFill>
              </a:defRPr>
            </a:pPr>
            <a:r>
              <a:t>演示: /openresty-lua-plugins -&gt; /dev all -&gt; /feedback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